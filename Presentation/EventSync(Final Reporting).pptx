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fonts/Font_4_DM_Sans_BoldItalic.fntdata" ContentType="application/x-fontdata"/>
  <Override PartName="/ppt/fonts/Font_1_DM_Sans_Regular.fntdata" ContentType="application/x-fontdata"/>
  <Override PartName="/ppt/fonts/Font_3_DM_Sans_Italic.fntdata" ContentType="application/x-fontdata"/>
  <Override PartName="/ppt/fonts/Font_2_DM_Sans_Bold.fntdata" ContentType="application/x-fontdata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presProps.xml" ContentType="application/vnd.openxmlformats-officedocument.presentationml.presProps+xml"/>
  <Override PartName="/ppt/media/image3.png" ContentType="image/png"/>
  <Override PartName="/ppt/media/image1.jpeg" ContentType="image/jpeg"/>
  <Override PartName="/ppt/media/image2.png" ContentType="image/png"/>
  <Override PartName="/ppt/media/image4.png" ContentType="image/png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_rels/slide18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8288000" cy="10287000"/>
  <p:notesSz cx="7559675" cy="10691813"/>
  <p:embeddedFontLst>
    <p:embeddedFont>
      <p:font typeface="DM Sans"/>
      <p:regular r:id="rId21"/>
      <p:bold r:id="rId22"/>
      <p:italic r:id="rId23"/>
      <p:boldItalic r:id="rId24"/>
    </p:embeddedFont>
    <p:embeddedFont>
      <p:font typeface="Calibri "/>
    </p:embeddedFont>
    <p:embeddedFont>
      <p:font typeface="Montserrat Heavy"/>
    </p:embeddedFont>
    <p:embeddedFont>
      <p:font typeface="DM Sans Bold"/>
    </p:embeddedFont>
    <p:embeddedFont>
      <p:font typeface="Microsoft YaHei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font" Target="fonts/Font_1_DM_Sans_Regular.fntdata"/><Relationship Id="rId22" Type="http://schemas.openxmlformats.org/officeDocument/2006/relationships/font" Target="fonts/Font_2_DM_Sans_Bold.fntdata"/><Relationship Id="rId23" Type="http://schemas.openxmlformats.org/officeDocument/2006/relationships/font" Target="fonts/Font_3_DM_Sans_Italic.fntdata"/><Relationship Id="rId24" Type="http://schemas.openxmlformats.org/officeDocument/2006/relationships/font" Target="fonts/Font_4_DM_Sans_BoldItalic.fntdata"/><Relationship Id="rId2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4600" cy="56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4600" cy="4113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icon to add picture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4600" cy="80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9AC84F8-C9E6-4B15-979C-25F39E119793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6</a:t>
            </a:fld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0600" cy="1468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83F0462-B0FB-451E-90A8-A06690154997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6</a:t>
            </a:fld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800" cy="114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7800" cy="452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IN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636136E-1BAB-4FD1-A277-979D565DC8FC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6</a:t>
            </a:fld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5600" cy="584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8120" cy="584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IN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E2BDE8C-1D75-4514-9D17-C7258DE12BA3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6</a:t>
            </a:fld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800" cy="114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7800" cy="452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IN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59D5E33-5AA3-479A-BFA3-7DAACCA4E964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6</a:t>
            </a:fld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0600" cy="1360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trike="noStrike" u="non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IN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0600" cy="149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9051F3E-C571-4D07-97CA-B2A81553AC56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6</a:t>
            </a:fld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800" cy="114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6680" cy="452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IN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6680" cy="452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IN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4BBCF43-6596-442D-8DBD-3720B9012540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6</a:t>
            </a:fld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800" cy="114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8480" cy="63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8480" cy="39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IN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IN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9920" cy="63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9920" cy="39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IN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IN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5B0851F-32BC-4FC7-8095-273D4D40ED3A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6</a:t>
            </a:fld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800" cy="114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C88F220-5670-48E8-A275-72D90301D133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6</a:t>
            </a:fld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33B6C93-C77A-47D7-B2EA-63D2287B9E42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7400" cy="171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7400" cy="596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6360" cy="116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9840" cy="585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IN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IN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IN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6360" cy="468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N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IN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DF2EB88-1277-4AEF-BDEF-510668C4209F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IN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0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0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0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0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3"/>
          <p:cNvGrpSpPr/>
          <p:nvPr/>
        </p:nvGrpSpPr>
        <p:grpSpPr>
          <a:xfrm>
            <a:off x="0" y="9005400"/>
            <a:ext cx="18286200" cy="1359360"/>
            <a:chOff x="0" y="9005400"/>
            <a:chExt cx="18286200" cy="1359360"/>
          </a:xfrm>
        </p:grpSpPr>
        <p:sp>
          <p:nvSpPr>
            <p:cNvPr id="62" name="Freeform 4"/>
            <p:cNvSpPr/>
            <p:nvPr/>
          </p:nvSpPr>
          <p:spPr>
            <a:xfrm>
              <a:off x="0" y="9071280"/>
              <a:ext cx="18286200" cy="1293480"/>
            </a:xfrm>
            <a:custGeom>
              <a:avLst/>
              <a:gdLst>
                <a:gd name="textAreaLeft" fmla="*/ 0 w 18286200"/>
                <a:gd name="textAreaRight" fmla="*/ 18288000 w 18286200"/>
                <a:gd name="textAreaTop" fmla="*/ 0 h 1293480"/>
                <a:gd name="textAreaBottom" fmla="*/ 1295280 h 1293480"/>
              </a:gdLst>
              <a:ahLst/>
              <a:cxnLst/>
              <a:rect l="textAreaLeft" t="textAreaTop" r="textAreaRight" b="textAreaBottom"/>
              <a:pathLst>
                <a:path w="5803466" h="939127">
                  <a:moveTo>
                    <a:pt x="0" y="0"/>
                  </a:moveTo>
                  <a:lnTo>
                    <a:pt x="5803466" y="0"/>
                  </a:lnTo>
                  <a:lnTo>
                    <a:pt x="5803466" y="939127"/>
                  </a:lnTo>
                  <a:lnTo>
                    <a:pt x="0" y="939127"/>
                  </a:lnTo>
                  <a:close/>
                </a:path>
              </a:pathLst>
            </a:custGeom>
            <a:solidFill>
              <a:srgbClr val="3c4f7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3" name="TextBox 5"/>
            <p:cNvSpPr/>
            <p:nvPr/>
          </p:nvSpPr>
          <p:spPr>
            <a:xfrm>
              <a:off x="0" y="9005400"/>
              <a:ext cx="18286200" cy="1359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940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64" name="TextBox 10"/>
          <p:cNvSpPr/>
          <p:nvPr/>
        </p:nvSpPr>
        <p:spPr>
          <a:xfrm>
            <a:off x="1209240" y="3915000"/>
            <a:ext cx="8825040" cy="129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100"/>
              </a:lnSpc>
            </a:pPr>
            <a:r>
              <a:rPr b="1" lang="en-US" sz="10000" strike="noStrike" u="none">
                <a:solidFill>
                  <a:srgbClr val="002060"/>
                </a:solidFill>
                <a:effectLst/>
                <a:uFillTx/>
                <a:latin typeface="Montserrat Heavy"/>
                <a:ea typeface="Montserrat Heavy"/>
              </a:rPr>
              <a:t>Event Sync</a:t>
            </a:r>
            <a:endParaRPr b="0" lang="en-IN" sz="10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2"/>
          <p:cNvSpPr/>
          <p:nvPr/>
        </p:nvSpPr>
        <p:spPr>
          <a:xfrm>
            <a:off x="1171080" y="7349760"/>
            <a:ext cx="8705880" cy="51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198"/>
              </a:lnSpc>
            </a:pPr>
            <a:r>
              <a:rPr b="1" lang="en-US" sz="3000" spc="71" strike="noStrike" u="none">
                <a:solidFill>
                  <a:srgbClr val="0c1d4b"/>
                </a:solidFill>
                <a:effectLst/>
                <a:uFillTx/>
                <a:latin typeface="DM Sans Bold"/>
                <a:ea typeface="DM Sans Bold"/>
              </a:rPr>
              <a:t>JG University | BCA – Semester 5 | Division-E</a:t>
            </a:r>
            <a:endParaRPr b="0" lang="en-IN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" name="Picture 13" descr=""/>
          <p:cNvPicPr/>
          <p:nvPr/>
        </p:nvPicPr>
        <p:blipFill>
          <a:blip r:embed="rId1"/>
          <a:stretch/>
        </p:blipFill>
        <p:spPr>
          <a:xfrm>
            <a:off x="10515600" y="2642760"/>
            <a:ext cx="4875120" cy="4262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2"/>
          <p:cNvSpPr/>
          <p:nvPr/>
        </p:nvSpPr>
        <p:spPr>
          <a:xfrm>
            <a:off x="6477120" y="-343080"/>
            <a:ext cx="5332320" cy="12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ts val="10100"/>
              </a:lnSpc>
            </a:pPr>
            <a:r>
              <a:rPr b="1" lang="en-US" sz="4800" strike="noStrike" u="none">
                <a:solidFill>
                  <a:srgbClr val="002060"/>
                </a:solidFill>
                <a:effectLst/>
                <a:uFillTx/>
                <a:latin typeface="Montserrat Heavy"/>
                <a:ea typeface="Montserrat Heavy"/>
              </a:rPr>
              <a:t>Team Members</a:t>
            </a:r>
            <a:endParaRPr b="0" lang="en-IN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3"/>
          <p:cNvSpPr/>
          <p:nvPr/>
        </p:nvSpPr>
        <p:spPr>
          <a:xfrm>
            <a:off x="5903640" y="1830960"/>
            <a:ext cx="6257520" cy="344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marL="571680" indent="-5716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"/>
            </a:pPr>
            <a:r>
              <a:rPr b="1" lang="en-IN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Krish Gohil (1416)</a:t>
            </a: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71680" indent="-5716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"/>
            </a:pPr>
            <a:r>
              <a:rPr b="1" lang="en-IN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Harsh Darji (1417)</a:t>
            </a: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71680" indent="-5716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"/>
            </a:pPr>
            <a:r>
              <a:rPr b="1" lang="en-IN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Ikrama kathiyara (1426)</a:t>
            </a: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71680" indent="-5716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"/>
            </a:pPr>
            <a:r>
              <a:rPr b="1" lang="en-IN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Rudra Padhiyar (1437)</a:t>
            </a: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71680" indent="-5716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"/>
            </a:pPr>
            <a:r>
              <a:rPr b="1" lang="en-IN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Fahad Shaikh (1452)</a:t>
            </a: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9" name="Group 9"/>
          <p:cNvGrpSpPr/>
          <p:nvPr/>
        </p:nvGrpSpPr>
        <p:grpSpPr>
          <a:xfrm>
            <a:off x="-2160" y="9046080"/>
            <a:ext cx="18288360" cy="1239120"/>
            <a:chOff x="-2160" y="9046080"/>
            <a:chExt cx="18288360" cy="1239120"/>
          </a:xfrm>
        </p:grpSpPr>
        <p:sp>
          <p:nvSpPr>
            <p:cNvPr id="70" name="Freeform 10"/>
            <p:cNvSpPr/>
            <p:nvPr/>
          </p:nvSpPr>
          <p:spPr>
            <a:xfrm>
              <a:off x="-2160" y="9105840"/>
              <a:ext cx="18288360" cy="1179360"/>
            </a:xfrm>
            <a:custGeom>
              <a:avLst/>
              <a:gdLst>
                <a:gd name="textAreaLeft" fmla="*/ 0 w 18288360"/>
                <a:gd name="textAreaRight" fmla="*/ 18290160 w 18288360"/>
                <a:gd name="textAreaTop" fmla="*/ 0 h 1179360"/>
                <a:gd name="textAreaBottom" fmla="*/ 1181160 h 1179360"/>
              </a:gdLst>
              <a:ahLst/>
              <a:cxnLst/>
              <a:rect l="textAreaLeft" t="textAreaTop" r="textAreaRight" b="textAreaBottom"/>
              <a:pathLst>
                <a:path w="5803466" h="939127">
                  <a:moveTo>
                    <a:pt x="0" y="0"/>
                  </a:moveTo>
                  <a:lnTo>
                    <a:pt x="5803466" y="0"/>
                  </a:lnTo>
                  <a:lnTo>
                    <a:pt x="5803466" y="939127"/>
                  </a:lnTo>
                  <a:lnTo>
                    <a:pt x="0" y="939127"/>
                  </a:lnTo>
                  <a:close/>
                </a:path>
              </a:pathLst>
            </a:custGeom>
            <a:solidFill>
              <a:srgbClr val="3c4f7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TextBox 11"/>
            <p:cNvSpPr/>
            <p:nvPr/>
          </p:nvSpPr>
          <p:spPr>
            <a:xfrm>
              <a:off x="-2160" y="9046080"/>
              <a:ext cx="18288360" cy="1239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940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5"/>
          <p:cNvSpPr/>
          <p:nvPr/>
        </p:nvSpPr>
        <p:spPr>
          <a:xfrm>
            <a:off x="5111640" y="0"/>
            <a:ext cx="7625880" cy="80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6565"/>
              </a:lnSpc>
            </a:pPr>
            <a:r>
              <a:rPr b="1" lang="en-US" sz="5400" strike="noStrike" u="none">
                <a:solidFill>
                  <a:srgbClr val="0c1d4b"/>
                </a:solidFill>
                <a:effectLst/>
                <a:uFillTx/>
                <a:latin typeface="Montserrat Heavy"/>
                <a:ea typeface="Montserrat Heavy"/>
              </a:rPr>
              <a:t>Introduction</a:t>
            </a:r>
            <a:endParaRPr b="0" lang="en-IN" sz="5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6"/>
          <p:cNvSpPr/>
          <p:nvPr/>
        </p:nvSpPr>
        <p:spPr>
          <a:xfrm>
            <a:off x="875160" y="1741320"/>
            <a:ext cx="16533720" cy="324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802800" indent="-457200" defTabSz="914400">
              <a:lnSpc>
                <a:spcPts val="6398"/>
              </a:lnSpc>
              <a:buClr>
                <a:srgbClr val="000000"/>
              </a:buClr>
              <a:buFont typeface="Wingdings" charset="2"/>
              <a:buChar char=""/>
            </a:pP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EventSync is a web-based event management system designed to simplify the process of managing, scheduling, and tracking event venue bookings.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02800" indent="-457200" defTabSz="914400">
              <a:lnSpc>
                <a:spcPts val="6398"/>
              </a:lnSpc>
              <a:buClr>
                <a:srgbClr val="000000"/>
              </a:buClr>
              <a:buFont typeface="Wingdings" charset="2"/>
              <a:buChar char=""/>
            </a:pP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The system provides a structured and secure platform for users to create accounts, log in, and interact with event-related services. 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4" name="Group 9"/>
          <p:cNvGrpSpPr/>
          <p:nvPr/>
        </p:nvGrpSpPr>
        <p:grpSpPr>
          <a:xfrm>
            <a:off x="-2160" y="9046080"/>
            <a:ext cx="18288360" cy="1239120"/>
            <a:chOff x="-2160" y="9046080"/>
            <a:chExt cx="18288360" cy="1239120"/>
          </a:xfrm>
        </p:grpSpPr>
        <p:sp>
          <p:nvSpPr>
            <p:cNvPr id="75" name="Freeform 10"/>
            <p:cNvSpPr/>
            <p:nvPr/>
          </p:nvSpPr>
          <p:spPr>
            <a:xfrm>
              <a:off x="-2160" y="9105840"/>
              <a:ext cx="18288360" cy="1179360"/>
            </a:xfrm>
            <a:custGeom>
              <a:avLst/>
              <a:gdLst>
                <a:gd name="textAreaLeft" fmla="*/ 0 w 18288360"/>
                <a:gd name="textAreaRight" fmla="*/ 18290160 w 18288360"/>
                <a:gd name="textAreaTop" fmla="*/ 0 h 1179360"/>
                <a:gd name="textAreaBottom" fmla="*/ 1181160 h 1179360"/>
              </a:gdLst>
              <a:ahLst/>
              <a:cxnLst/>
              <a:rect l="textAreaLeft" t="textAreaTop" r="textAreaRight" b="textAreaBottom"/>
              <a:pathLst>
                <a:path w="5803466" h="939127">
                  <a:moveTo>
                    <a:pt x="0" y="0"/>
                  </a:moveTo>
                  <a:lnTo>
                    <a:pt x="5803466" y="0"/>
                  </a:lnTo>
                  <a:lnTo>
                    <a:pt x="5803466" y="939127"/>
                  </a:lnTo>
                  <a:lnTo>
                    <a:pt x="0" y="939127"/>
                  </a:lnTo>
                  <a:close/>
                </a:path>
              </a:pathLst>
            </a:custGeom>
            <a:solidFill>
              <a:srgbClr val="3c4f7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TextBox 11"/>
            <p:cNvSpPr/>
            <p:nvPr/>
          </p:nvSpPr>
          <p:spPr>
            <a:xfrm>
              <a:off x="-2160" y="9046080"/>
              <a:ext cx="18288360" cy="1239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940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4"/>
          <p:cNvGrpSpPr/>
          <p:nvPr/>
        </p:nvGrpSpPr>
        <p:grpSpPr>
          <a:xfrm>
            <a:off x="0" y="8965800"/>
            <a:ext cx="18286200" cy="1319760"/>
            <a:chOff x="0" y="8965800"/>
            <a:chExt cx="18286200" cy="1319760"/>
          </a:xfrm>
        </p:grpSpPr>
        <p:sp>
          <p:nvSpPr>
            <p:cNvPr id="78" name="Freeform 5"/>
            <p:cNvSpPr/>
            <p:nvPr/>
          </p:nvSpPr>
          <p:spPr>
            <a:xfrm>
              <a:off x="0" y="9029880"/>
              <a:ext cx="18286200" cy="1255680"/>
            </a:xfrm>
            <a:custGeom>
              <a:avLst/>
              <a:gdLst>
                <a:gd name="textAreaLeft" fmla="*/ 0 w 18286200"/>
                <a:gd name="textAreaRight" fmla="*/ 18288000 w 18286200"/>
                <a:gd name="textAreaTop" fmla="*/ 0 h 1255680"/>
                <a:gd name="textAreaBottom" fmla="*/ 1257480 h 1255680"/>
              </a:gdLst>
              <a:ahLst/>
              <a:cxnLst/>
              <a:rect l="textAreaLeft" t="textAreaTop" r="textAreaRight" b="textAreaBottom"/>
              <a:pathLst>
                <a:path w="5803466" h="939127">
                  <a:moveTo>
                    <a:pt x="0" y="0"/>
                  </a:moveTo>
                  <a:lnTo>
                    <a:pt x="5803466" y="0"/>
                  </a:lnTo>
                  <a:lnTo>
                    <a:pt x="5803466" y="939127"/>
                  </a:lnTo>
                  <a:lnTo>
                    <a:pt x="0" y="939127"/>
                  </a:lnTo>
                  <a:close/>
                </a:path>
              </a:pathLst>
            </a:custGeom>
            <a:solidFill>
              <a:srgbClr val="3c4f7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" name="TextBox 6"/>
            <p:cNvSpPr/>
            <p:nvPr/>
          </p:nvSpPr>
          <p:spPr>
            <a:xfrm>
              <a:off x="0" y="8965800"/>
              <a:ext cx="18286200" cy="1319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940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80" name="TextBox 9"/>
          <p:cNvSpPr/>
          <p:nvPr/>
        </p:nvSpPr>
        <p:spPr>
          <a:xfrm>
            <a:off x="6839640" y="-34560"/>
            <a:ext cx="3389400" cy="77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6565"/>
              </a:lnSpc>
            </a:pPr>
            <a:r>
              <a:rPr b="1" lang="en-US" sz="4400" strike="noStrike" u="none">
                <a:solidFill>
                  <a:srgbClr val="0c1d4b"/>
                </a:solidFill>
                <a:effectLst/>
                <a:uFillTx/>
                <a:latin typeface="Montserrat Heavy"/>
                <a:ea typeface="Montserrat Heavy"/>
              </a:rPr>
              <a:t>Objectives </a:t>
            </a: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0"/>
          <p:cNvSpPr/>
          <p:nvPr/>
        </p:nvSpPr>
        <p:spPr>
          <a:xfrm>
            <a:off x="1727280" y="1610640"/>
            <a:ext cx="14832000" cy="340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7000"/>
              </a:lnSpc>
              <a:spcAft>
                <a:spcPts val="799"/>
              </a:spcAf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 </a:t>
            </a: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914400" indent="-457200" defTabSz="914400">
              <a:lnSpc>
                <a:spcPct val="107000"/>
              </a:lnSpc>
              <a:spcAft>
                <a:spcPts val="799"/>
              </a:spcAft>
              <a:buClr>
                <a:srgbClr val="000000"/>
              </a:buClr>
              <a:buFont typeface="Arial"/>
              <a:buChar char="•"/>
            </a:pP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Simplify Venue Booking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914400" indent="-457200" defTabSz="914400">
              <a:lnSpc>
                <a:spcPct val="107000"/>
              </a:lnSpc>
              <a:spcAft>
                <a:spcPts val="799"/>
              </a:spcAft>
              <a:buClr>
                <a:srgbClr val="000000"/>
              </a:buClr>
              <a:buFont typeface="Arial"/>
              <a:buChar char="•"/>
            </a:pP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Automate Administrative Tasks 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914400" indent="-457200" defTabSz="914400">
              <a:lnSpc>
                <a:spcPct val="107000"/>
              </a:lnSpc>
              <a:spcAft>
                <a:spcPts val="799"/>
              </a:spcAft>
              <a:buClr>
                <a:srgbClr val="000000"/>
              </a:buClr>
              <a:buFont typeface="Arial"/>
              <a:buChar char="•"/>
            </a:pP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Centralize Event Management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914400" indent="-457200" defTabSz="914400">
              <a:lnSpc>
                <a:spcPct val="107000"/>
              </a:lnSpc>
              <a:spcAft>
                <a:spcPts val="799"/>
              </a:spcAft>
              <a:buClr>
                <a:srgbClr val="000000"/>
              </a:buClr>
              <a:buFont typeface="Arial"/>
              <a:buChar char="•"/>
            </a:pPr>
            <a:r>
              <a:rPr b="1" lang="en-IN" sz="32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Improve Customer Experience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914400" indent="-457200" defTabSz="914400">
              <a:lnSpc>
                <a:spcPct val="107000"/>
              </a:lnSpc>
              <a:spcAft>
                <a:spcPts val="799"/>
              </a:spcAft>
              <a:buClr>
                <a:srgbClr val="000000"/>
              </a:buClr>
              <a:buFont typeface="Arial"/>
              <a:buChar char="•"/>
            </a:pP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Improve Communication via Notifications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4"/>
          <p:cNvSpPr/>
          <p:nvPr/>
        </p:nvSpPr>
        <p:spPr>
          <a:xfrm>
            <a:off x="6400800" y="3771000"/>
            <a:ext cx="9142200" cy="70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IN" sz="4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TextBox 16"/>
          <p:cNvSpPr/>
          <p:nvPr/>
        </p:nvSpPr>
        <p:spPr>
          <a:xfrm>
            <a:off x="4572000" y="4331520"/>
            <a:ext cx="8913600" cy="52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657600" defTabSz="914400">
              <a:lnSpc>
                <a:spcPct val="100000"/>
              </a:lnSpc>
            </a:pPr>
            <a:endParaRPr b="1" lang="en-IN" sz="2800" strike="noStrike" u="none">
              <a:solidFill>
                <a:schemeClr val="dk1"/>
              </a:solidFill>
              <a:effectLst/>
              <a:uFillTx/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Box 6"/>
          <p:cNvSpPr/>
          <p:nvPr/>
        </p:nvSpPr>
        <p:spPr>
          <a:xfrm>
            <a:off x="6109920" y="-14040"/>
            <a:ext cx="6066360" cy="77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6565"/>
              </a:lnSpc>
            </a:pPr>
            <a:r>
              <a:rPr b="1" lang="en-US" sz="4400" strike="noStrike" u="none">
                <a:solidFill>
                  <a:srgbClr val="0c1d4b"/>
                </a:solidFill>
                <a:effectLst/>
                <a:uFillTx/>
                <a:latin typeface="Montserrat Heavy"/>
                <a:ea typeface="Montserrat Heavy"/>
              </a:rPr>
              <a:t>Existing System</a:t>
            </a: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1"/>
          <p:cNvSpPr/>
          <p:nvPr/>
        </p:nvSpPr>
        <p:spPr>
          <a:xfrm>
            <a:off x="12601440" y="9525240"/>
            <a:ext cx="4655880" cy="38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3220"/>
              </a:lnSpc>
            </a:pPr>
            <a:r>
              <a:rPr b="1" lang="en-US" sz="2300" spc="54" strike="noStrike" u="none">
                <a:solidFill>
                  <a:srgbClr val="ffffff"/>
                </a:solidFill>
                <a:effectLst/>
                <a:uFillTx/>
                <a:latin typeface="DM Sans Bold"/>
                <a:ea typeface="DM Sans Bold"/>
              </a:rPr>
              <a:t>MAJOR: INTERIOR DESIGN</a:t>
            </a:r>
            <a:endParaRPr b="0" lang="en-IN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7"/>
          <p:cNvSpPr/>
          <p:nvPr/>
        </p:nvSpPr>
        <p:spPr>
          <a:xfrm>
            <a:off x="3383280" y="1100880"/>
            <a:ext cx="113032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"/>
            </a:pPr>
            <a:r>
              <a:rPr b="1" lang="en-US" sz="2800" strike="noStrike" u="none">
                <a:solidFill>
                  <a:schemeClr val="dk1"/>
                </a:solidFill>
                <a:effectLst/>
                <a:uFillTx/>
                <a:latin typeface="Calibri"/>
                <a:ea typeface="Times New Roman"/>
              </a:rPr>
              <a:t>Organizing events such as weddings or birthdays involves multiple tasks like registration, venue booking, scheduling, and communication with participants.</a:t>
            </a:r>
            <a:endParaRPr b="0" lang="en-IN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9"/>
          <p:cNvSpPr/>
          <p:nvPr/>
        </p:nvSpPr>
        <p:spPr>
          <a:xfrm>
            <a:off x="3383280" y="2775960"/>
            <a:ext cx="91422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"/>
            </a:pPr>
            <a:r>
              <a:rPr b="1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When these activities are managed manually , it often leads to errors , time delays , miscommunication , and data loss.</a:t>
            </a:r>
            <a:endParaRPr b="0" lang="en-IN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8" name="Group 4"/>
          <p:cNvGrpSpPr/>
          <p:nvPr/>
        </p:nvGrpSpPr>
        <p:grpSpPr>
          <a:xfrm>
            <a:off x="0" y="8965800"/>
            <a:ext cx="18286200" cy="1319760"/>
            <a:chOff x="0" y="8965800"/>
            <a:chExt cx="18286200" cy="1319760"/>
          </a:xfrm>
        </p:grpSpPr>
        <p:sp>
          <p:nvSpPr>
            <p:cNvPr id="89" name="Freeform 5"/>
            <p:cNvSpPr/>
            <p:nvPr/>
          </p:nvSpPr>
          <p:spPr>
            <a:xfrm>
              <a:off x="0" y="9029880"/>
              <a:ext cx="18286200" cy="1255680"/>
            </a:xfrm>
            <a:custGeom>
              <a:avLst/>
              <a:gdLst>
                <a:gd name="textAreaLeft" fmla="*/ 0 w 18286200"/>
                <a:gd name="textAreaRight" fmla="*/ 18288000 w 18286200"/>
                <a:gd name="textAreaTop" fmla="*/ 0 h 1255680"/>
                <a:gd name="textAreaBottom" fmla="*/ 1257480 h 1255680"/>
              </a:gdLst>
              <a:ahLst/>
              <a:cxnLst/>
              <a:rect l="textAreaLeft" t="textAreaTop" r="textAreaRight" b="textAreaBottom"/>
              <a:pathLst>
                <a:path w="5803466" h="939127">
                  <a:moveTo>
                    <a:pt x="0" y="0"/>
                  </a:moveTo>
                  <a:lnTo>
                    <a:pt x="5803466" y="0"/>
                  </a:lnTo>
                  <a:lnTo>
                    <a:pt x="5803466" y="939127"/>
                  </a:lnTo>
                  <a:lnTo>
                    <a:pt x="0" y="939127"/>
                  </a:lnTo>
                  <a:close/>
                </a:path>
              </a:pathLst>
            </a:custGeom>
            <a:solidFill>
              <a:srgbClr val="3c4f7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TextBox 6"/>
            <p:cNvSpPr/>
            <p:nvPr/>
          </p:nvSpPr>
          <p:spPr>
            <a:xfrm>
              <a:off x="0" y="8965800"/>
              <a:ext cx="18286200" cy="1319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940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91" name="TextBox 15"/>
          <p:cNvSpPr/>
          <p:nvPr/>
        </p:nvSpPr>
        <p:spPr>
          <a:xfrm>
            <a:off x="5399640" y="4110120"/>
            <a:ext cx="914220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 defTabSz="914400">
              <a:lnSpc>
                <a:spcPct val="100000"/>
              </a:lnSpc>
              <a:buClr>
                <a:srgbClr val="0c1d4b"/>
              </a:buClr>
              <a:buFont typeface="Wingdings" charset="2"/>
              <a:buChar char=""/>
            </a:pPr>
            <a:r>
              <a:rPr b="1" lang="en-US" sz="2800" strike="noStrike" u="none">
                <a:solidFill>
                  <a:srgbClr val="0c1d4b"/>
                </a:solidFill>
                <a:effectLst/>
                <a:uFillTx/>
                <a:latin typeface="Montserrat Heavy"/>
              </a:rPr>
              <a:t>Drawback of Existing System</a:t>
            </a:r>
            <a:r>
              <a:rPr b="1" lang="en-US" sz="2800" strike="noStrike" u="none">
                <a:solidFill>
                  <a:srgbClr val="002060"/>
                </a:solidFill>
                <a:effectLst/>
                <a:uFillTx/>
                <a:latin typeface="Montserrat Heavy"/>
              </a:rPr>
              <a:t> :</a:t>
            </a:r>
            <a:endParaRPr b="0" lang="en-IN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16"/>
          <p:cNvSpPr/>
          <p:nvPr/>
        </p:nvSpPr>
        <p:spPr>
          <a:xfrm>
            <a:off x="4500000" y="4851000"/>
            <a:ext cx="9142200" cy="25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"/>
            </a:pP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 Manual record keeping prone to errors. 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"/>
            </a:pP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Lack of centralized user authentication.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"/>
            </a:pP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Difficulty in managing event data securely.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"/>
            </a:pP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Limited scalability and adaptability to different use cases.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extBox 11"/>
          <p:cNvSpPr/>
          <p:nvPr/>
        </p:nvSpPr>
        <p:spPr>
          <a:xfrm>
            <a:off x="1871280" y="3297600"/>
            <a:ext cx="7305480" cy="47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201"/>
              </a:lnSpc>
            </a:pPr>
            <a:r>
              <a:rPr b="0" lang="en-US" sz="2100" strike="noStrike" u="none">
                <a:solidFill>
                  <a:srgbClr val="696d76"/>
                </a:solidFill>
                <a:effectLst/>
                <a:uFillTx/>
                <a:latin typeface="DM Sans"/>
                <a:ea typeface="DM Sans"/>
              </a:rPr>
              <a:t> </a:t>
            </a:r>
            <a:endParaRPr b="0" lang="en-IN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16"/>
          <p:cNvSpPr/>
          <p:nvPr/>
        </p:nvSpPr>
        <p:spPr>
          <a:xfrm>
            <a:off x="12601440" y="9525240"/>
            <a:ext cx="4655880" cy="38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3220"/>
              </a:lnSpc>
            </a:pPr>
            <a:r>
              <a:rPr b="1" lang="en-US" sz="2300" spc="54" strike="noStrike" u="none">
                <a:solidFill>
                  <a:srgbClr val="ffffff"/>
                </a:solidFill>
                <a:effectLst/>
                <a:uFillTx/>
                <a:latin typeface="DM Sans Bold"/>
                <a:ea typeface="DM Sans Bold"/>
              </a:rPr>
              <a:t>MAJOR: INTERIOR DESIGN</a:t>
            </a:r>
            <a:endParaRPr b="0" lang="en-IN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8"/>
          <p:cNvSpPr/>
          <p:nvPr/>
        </p:nvSpPr>
        <p:spPr>
          <a:xfrm>
            <a:off x="3553200" y="1037160"/>
            <a:ext cx="11375640" cy="156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"/>
            </a:pP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The proposed EventSync system overcomes these limitations by offering a secure, scalable, and centralized platform for event management.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11"/>
          <p:cNvSpPr/>
          <p:nvPr/>
        </p:nvSpPr>
        <p:spPr>
          <a:xfrm>
            <a:off x="3567960" y="2752920"/>
            <a:ext cx="12846960" cy="156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"/>
            </a:pP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Using modern web technologies, the system ensures smooth interaction between users and administrators, while maintaining data security with password encryption and database integration.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12"/>
          <p:cNvSpPr/>
          <p:nvPr/>
        </p:nvSpPr>
        <p:spPr>
          <a:xfrm>
            <a:off x="7019640" y="4550400"/>
            <a:ext cx="4246560" cy="76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571680" indent="-571680" defTabSz="914400">
              <a:lnSpc>
                <a:spcPct val="100000"/>
              </a:lnSpc>
              <a:buClr>
                <a:srgbClr val="002060"/>
              </a:buClr>
              <a:buFont typeface="Wingdings" charset="2"/>
              <a:buChar char=""/>
            </a:pPr>
            <a:r>
              <a:rPr b="1" lang="en-US" sz="4400" strike="noStrike" u="none">
                <a:solidFill>
                  <a:srgbClr val="002060"/>
                </a:solidFill>
                <a:effectLst/>
                <a:uFillTx/>
                <a:latin typeface="Montserrat Heavy"/>
              </a:rPr>
              <a:t> </a:t>
            </a:r>
            <a:r>
              <a:rPr b="1" lang="en-US" sz="4400" strike="noStrike" u="none">
                <a:solidFill>
                  <a:srgbClr val="0c1d4b"/>
                </a:solidFill>
                <a:effectLst/>
                <a:uFillTx/>
                <a:latin typeface="Montserrat Heavy"/>
              </a:rPr>
              <a:t>Features</a:t>
            </a:r>
            <a:r>
              <a:rPr b="1" lang="en-US" sz="4400" strike="noStrike" u="none">
                <a:solidFill>
                  <a:srgbClr val="002060"/>
                </a:solidFill>
                <a:effectLst/>
                <a:uFillTx/>
                <a:latin typeface="Montserrat Heavy"/>
              </a:rPr>
              <a:t> :</a:t>
            </a: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14"/>
          <p:cNvSpPr/>
          <p:nvPr/>
        </p:nvSpPr>
        <p:spPr>
          <a:xfrm>
            <a:off x="3817800" y="5344560"/>
            <a:ext cx="9142200" cy="265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571680" indent="-571680" defTabSz="914400">
              <a:lnSpc>
                <a:spcPct val="100000"/>
              </a:lnSpc>
              <a:buClr>
                <a:srgbClr val="002060"/>
              </a:buClr>
              <a:buFont typeface="Wingdings" charset="2"/>
              <a:buChar char=""/>
            </a:pPr>
            <a:r>
              <a:rPr b="1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Times New Roman"/>
              </a:rPr>
              <a:t>User registration and authentication</a:t>
            </a:r>
            <a:endParaRPr b="0" lang="en-IN" sz="2800" strike="noStrike" u="none">
              <a:solidFill>
                <a:srgbClr val="000000"/>
              </a:solidFill>
              <a:effectLst/>
              <a:uFillTx/>
              <a:latin typeface="Calibri"/>
              <a:ea typeface="Times New Roman"/>
            </a:endParaRPr>
          </a:p>
          <a:p>
            <a:pPr marL="571680" indent="-571680" defTabSz="914400">
              <a:lnSpc>
                <a:spcPct val="100000"/>
              </a:lnSpc>
              <a:buClr>
                <a:srgbClr val="002060"/>
              </a:buClr>
              <a:buFont typeface="Wingdings" charset="2"/>
              <a:buChar char=""/>
            </a:pPr>
            <a:r>
              <a:rPr b="1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Times New Roman"/>
              </a:rPr>
              <a:t>Venue Booking</a:t>
            </a:r>
            <a:endParaRPr b="0" lang="en-IN" sz="2800" strike="noStrike" u="none">
              <a:solidFill>
                <a:srgbClr val="000000"/>
              </a:solidFill>
              <a:effectLst/>
              <a:uFillTx/>
              <a:latin typeface="Calibri"/>
              <a:ea typeface="Times New Roman"/>
            </a:endParaRPr>
          </a:p>
          <a:p>
            <a:pPr marL="571680" indent="-571680" defTabSz="914400">
              <a:lnSpc>
                <a:spcPct val="100000"/>
              </a:lnSpc>
              <a:buClr>
                <a:srgbClr val="002060"/>
              </a:buClr>
              <a:buFont typeface="Wingdings" charset="2"/>
              <a:buChar char=""/>
            </a:pPr>
            <a:r>
              <a:rPr b="1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Times New Roman"/>
              </a:rPr>
              <a:t>Centralized booking management and scheduling</a:t>
            </a:r>
            <a:endParaRPr b="0" lang="en-IN" sz="2800" strike="noStrike" u="none">
              <a:solidFill>
                <a:srgbClr val="000000"/>
              </a:solidFill>
              <a:effectLst/>
              <a:uFillTx/>
              <a:latin typeface="Calibri"/>
              <a:ea typeface="Times New Roman"/>
            </a:endParaRPr>
          </a:p>
          <a:p>
            <a:pPr marL="571680" indent="-571680" defTabSz="914400">
              <a:lnSpc>
                <a:spcPct val="100000"/>
              </a:lnSpc>
              <a:buClr>
                <a:srgbClr val="002060"/>
              </a:buClr>
              <a:buFont typeface="Wingdings" charset="2"/>
              <a:buChar char=""/>
            </a:pPr>
            <a:r>
              <a:rPr b="1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Times New Roman"/>
              </a:rPr>
              <a:t>Database-driven design with MySql</a:t>
            </a:r>
            <a:endParaRPr b="0" lang="en-IN" sz="2800" strike="noStrike" u="none">
              <a:solidFill>
                <a:srgbClr val="000000"/>
              </a:solidFill>
              <a:effectLst/>
              <a:uFillTx/>
              <a:latin typeface="Calibri"/>
              <a:ea typeface="Times New Roman"/>
            </a:endParaRPr>
          </a:p>
          <a:p>
            <a:pPr marL="571680" indent="-571680" defTabSz="914400">
              <a:lnSpc>
                <a:spcPct val="100000"/>
              </a:lnSpc>
              <a:buClr>
                <a:srgbClr val="002060"/>
              </a:buClr>
              <a:buFont typeface="Wingdings" charset="2"/>
              <a:buChar char=""/>
            </a:pPr>
            <a:r>
              <a:rPr b="1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Times New Roman"/>
              </a:rPr>
              <a:t>Role-Based Access</a:t>
            </a:r>
            <a:endParaRPr b="0" lang="en-IN" sz="2800" strike="noStrike" u="none">
              <a:solidFill>
                <a:srgbClr val="000000"/>
              </a:solidFill>
              <a:effectLst/>
              <a:uFillTx/>
              <a:latin typeface="Calibri"/>
              <a:ea typeface="Times New Roman"/>
            </a:endParaRPr>
          </a:p>
          <a:p>
            <a:pPr marL="571680" indent="-571680" defTabSz="914400">
              <a:lnSpc>
                <a:spcPct val="100000"/>
              </a:lnSpc>
              <a:buClr>
                <a:srgbClr val="002060"/>
              </a:buClr>
              <a:buFont typeface="Wingdings" charset="2"/>
              <a:buChar char=""/>
            </a:pPr>
            <a:r>
              <a:rPr b="1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Times New Roman"/>
              </a:rPr>
              <a:t>Responsive and accessible web interface</a:t>
            </a:r>
            <a:endParaRPr b="0" lang="en-IN" sz="2800" strike="noStrike" u="none">
              <a:solidFill>
                <a:srgbClr val="000000"/>
              </a:solidFill>
              <a:effectLst/>
              <a:uFillTx/>
              <a:latin typeface="Calibri"/>
              <a:ea typeface="Times New Roman"/>
            </a:endParaRPr>
          </a:p>
        </p:txBody>
      </p:sp>
      <p:sp>
        <p:nvSpPr>
          <p:cNvPr id="99" name="TextBox 18"/>
          <p:cNvSpPr/>
          <p:nvPr/>
        </p:nvSpPr>
        <p:spPr>
          <a:xfrm>
            <a:off x="6551640" y="0"/>
            <a:ext cx="5758920" cy="76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4400" strike="noStrike" u="none">
                <a:solidFill>
                  <a:srgbClr val="0c1d4b"/>
                </a:solidFill>
                <a:effectLst/>
                <a:uFillTx/>
                <a:latin typeface="Montserrat Heavy"/>
              </a:rPr>
              <a:t>Proposed System</a:t>
            </a: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0" name="Group 4"/>
          <p:cNvGrpSpPr/>
          <p:nvPr/>
        </p:nvGrpSpPr>
        <p:grpSpPr>
          <a:xfrm>
            <a:off x="0" y="8965800"/>
            <a:ext cx="18286200" cy="1319760"/>
            <a:chOff x="0" y="8965800"/>
            <a:chExt cx="18286200" cy="1319760"/>
          </a:xfrm>
        </p:grpSpPr>
        <p:sp>
          <p:nvSpPr>
            <p:cNvPr id="101" name="Freeform 5"/>
            <p:cNvSpPr/>
            <p:nvPr/>
          </p:nvSpPr>
          <p:spPr>
            <a:xfrm>
              <a:off x="0" y="9029880"/>
              <a:ext cx="18286200" cy="1255680"/>
            </a:xfrm>
            <a:custGeom>
              <a:avLst/>
              <a:gdLst>
                <a:gd name="textAreaLeft" fmla="*/ 0 w 18286200"/>
                <a:gd name="textAreaRight" fmla="*/ 18288000 w 18286200"/>
                <a:gd name="textAreaTop" fmla="*/ 0 h 1255680"/>
                <a:gd name="textAreaBottom" fmla="*/ 1257480 h 1255680"/>
              </a:gdLst>
              <a:ahLst/>
              <a:cxnLst/>
              <a:rect l="textAreaLeft" t="textAreaTop" r="textAreaRight" b="textAreaBottom"/>
              <a:pathLst>
                <a:path w="5803466" h="939127">
                  <a:moveTo>
                    <a:pt x="0" y="0"/>
                  </a:moveTo>
                  <a:lnTo>
                    <a:pt x="5803466" y="0"/>
                  </a:lnTo>
                  <a:lnTo>
                    <a:pt x="5803466" y="939127"/>
                  </a:lnTo>
                  <a:lnTo>
                    <a:pt x="0" y="939127"/>
                  </a:lnTo>
                  <a:close/>
                </a:path>
              </a:pathLst>
            </a:custGeom>
            <a:solidFill>
              <a:srgbClr val="3c4f7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" name="TextBox 6"/>
            <p:cNvSpPr/>
            <p:nvPr/>
          </p:nvSpPr>
          <p:spPr>
            <a:xfrm>
              <a:off x="0" y="8965800"/>
              <a:ext cx="18286200" cy="1319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940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Box 10"/>
          <p:cNvSpPr/>
          <p:nvPr/>
        </p:nvSpPr>
        <p:spPr>
          <a:xfrm>
            <a:off x="10165680" y="2046240"/>
            <a:ext cx="6682320" cy="47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201"/>
              </a:lnSpc>
            </a:pPr>
            <a:r>
              <a:rPr b="0" lang="en-US" sz="2100" strike="noStrike" u="none">
                <a:solidFill>
                  <a:srgbClr val="696d76"/>
                </a:solidFill>
                <a:effectLst/>
                <a:uFillTx/>
                <a:latin typeface="DM Sans"/>
                <a:ea typeface="DM Sans"/>
              </a:rPr>
              <a:t>.</a:t>
            </a:r>
            <a:endParaRPr b="0" lang="en-IN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11"/>
          <p:cNvSpPr/>
          <p:nvPr/>
        </p:nvSpPr>
        <p:spPr>
          <a:xfrm>
            <a:off x="10165680" y="4615200"/>
            <a:ext cx="6682320" cy="47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201"/>
              </a:lnSpc>
            </a:pPr>
            <a:r>
              <a:rPr b="0" lang="en-US" sz="2100" strike="noStrike" u="none">
                <a:solidFill>
                  <a:srgbClr val="696d76"/>
                </a:solidFill>
                <a:effectLst/>
                <a:uFillTx/>
                <a:latin typeface="DM Sans"/>
                <a:ea typeface="DM Sans"/>
              </a:rPr>
              <a:t>.</a:t>
            </a:r>
            <a:endParaRPr b="0" lang="en-IN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19"/>
          <p:cNvSpPr/>
          <p:nvPr/>
        </p:nvSpPr>
        <p:spPr>
          <a:xfrm>
            <a:off x="12601440" y="9525240"/>
            <a:ext cx="4655880" cy="38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3220"/>
              </a:lnSpc>
            </a:pPr>
            <a:r>
              <a:rPr b="1" lang="en-US" sz="2300" spc="54" strike="noStrike" u="none">
                <a:solidFill>
                  <a:srgbClr val="ffffff"/>
                </a:solidFill>
                <a:effectLst/>
                <a:uFillTx/>
                <a:latin typeface="DM Sans Bold"/>
                <a:ea typeface="DM Sans Bold"/>
              </a:rPr>
              <a:t>MAJOR: INTERIOR DESIGN</a:t>
            </a:r>
            <a:endParaRPr b="0" lang="en-IN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7"/>
          <p:cNvSpPr/>
          <p:nvPr/>
        </p:nvSpPr>
        <p:spPr>
          <a:xfrm>
            <a:off x="6803640" y="0"/>
            <a:ext cx="4678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ts val="6565"/>
              </a:lnSpc>
            </a:pPr>
            <a:r>
              <a:rPr b="1" lang="en-US" sz="4400" strike="noStrike" u="none">
                <a:solidFill>
                  <a:srgbClr val="0c1d4b"/>
                </a:solidFill>
                <a:effectLst/>
                <a:uFillTx/>
                <a:latin typeface="Montserrat Heavy"/>
                <a:ea typeface="Montserrat Heavy"/>
              </a:rPr>
              <a:t>System Users</a:t>
            </a: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11"/>
          <p:cNvSpPr/>
          <p:nvPr/>
        </p:nvSpPr>
        <p:spPr>
          <a:xfrm>
            <a:off x="4103280" y="1541160"/>
            <a:ext cx="9142200" cy="25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"/>
            </a:pP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The system is primarily designed for two categories of users :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Administrators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Regular Users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12"/>
          <p:cNvSpPr/>
          <p:nvPr/>
        </p:nvSpPr>
        <p:spPr>
          <a:xfrm>
            <a:off x="6993000" y="3888000"/>
            <a:ext cx="4299840" cy="85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ts val="6565"/>
              </a:lnSpc>
            </a:pPr>
            <a:r>
              <a:rPr b="1" lang="en-US" sz="4000" strike="noStrike" u="none">
                <a:solidFill>
                  <a:srgbClr val="0c1d4b"/>
                </a:solidFill>
                <a:effectLst/>
                <a:uFillTx/>
                <a:latin typeface="Montserrat Heavy"/>
                <a:ea typeface="Montserrat Heavy"/>
              </a:rPr>
              <a:t>Role of Users :</a:t>
            </a:r>
            <a:endParaRPr b="0" lang="en-IN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13"/>
          <p:cNvSpPr/>
          <p:nvPr/>
        </p:nvSpPr>
        <p:spPr>
          <a:xfrm>
            <a:off x="4103280" y="5003280"/>
            <a:ext cx="9142200" cy="10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"/>
            </a:pP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Administrators - </a:t>
            </a: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Manages users, monitors activities, and oversees the overall event process.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15"/>
          <p:cNvSpPr/>
          <p:nvPr/>
        </p:nvSpPr>
        <p:spPr>
          <a:xfrm>
            <a:off x="4103280" y="6107040"/>
            <a:ext cx="9142200" cy="10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"/>
            </a:pP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Registered Users - </a:t>
            </a: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Can log in, view, and manage personal event activities.</a:t>
            </a: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17"/>
          <p:cNvSpPr/>
          <p:nvPr/>
        </p:nvSpPr>
        <p:spPr>
          <a:xfrm>
            <a:off x="4114080" y="7264440"/>
            <a:ext cx="9142200" cy="10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"/>
            </a:pPr>
            <a:endParaRPr b="0" lang="en-IN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2" name="Group 4"/>
          <p:cNvGrpSpPr/>
          <p:nvPr/>
        </p:nvGrpSpPr>
        <p:grpSpPr>
          <a:xfrm>
            <a:off x="0" y="8965800"/>
            <a:ext cx="18286200" cy="1319760"/>
            <a:chOff x="0" y="8965800"/>
            <a:chExt cx="18286200" cy="1319760"/>
          </a:xfrm>
        </p:grpSpPr>
        <p:sp>
          <p:nvSpPr>
            <p:cNvPr id="113" name="Freeform 5"/>
            <p:cNvSpPr/>
            <p:nvPr/>
          </p:nvSpPr>
          <p:spPr>
            <a:xfrm>
              <a:off x="0" y="9029880"/>
              <a:ext cx="18286200" cy="1255680"/>
            </a:xfrm>
            <a:custGeom>
              <a:avLst/>
              <a:gdLst>
                <a:gd name="textAreaLeft" fmla="*/ 0 w 18286200"/>
                <a:gd name="textAreaRight" fmla="*/ 18288000 w 18286200"/>
                <a:gd name="textAreaTop" fmla="*/ 0 h 1255680"/>
                <a:gd name="textAreaBottom" fmla="*/ 1257480 h 1255680"/>
              </a:gdLst>
              <a:ahLst/>
              <a:cxnLst/>
              <a:rect l="textAreaLeft" t="textAreaTop" r="textAreaRight" b="textAreaBottom"/>
              <a:pathLst>
                <a:path w="5803466" h="939127">
                  <a:moveTo>
                    <a:pt x="0" y="0"/>
                  </a:moveTo>
                  <a:lnTo>
                    <a:pt x="5803466" y="0"/>
                  </a:lnTo>
                  <a:lnTo>
                    <a:pt x="5803466" y="939127"/>
                  </a:lnTo>
                  <a:lnTo>
                    <a:pt x="0" y="939127"/>
                  </a:lnTo>
                  <a:close/>
                </a:path>
              </a:pathLst>
            </a:custGeom>
            <a:solidFill>
              <a:srgbClr val="3c4f7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" name="TextBox 6"/>
            <p:cNvSpPr/>
            <p:nvPr/>
          </p:nvSpPr>
          <p:spPr>
            <a:xfrm>
              <a:off x="0" y="8965800"/>
              <a:ext cx="18286200" cy="1319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940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Box 8"/>
          <p:cNvSpPr/>
          <p:nvPr/>
        </p:nvSpPr>
        <p:spPr>
          <a:xfrm>
            <a:off x="5039640" y="102960"/>
            <a:ext cx="7704000" cy="89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6968"/>
              </a:lnSpc>
            </a:pPr>
            <a:r>
              <a:rPr b="1" lang="en-US" sz="6900" strike="noStrike" u="none">
                <a:solidFill>
                  <a:srgbClr val="0c1d4b"/>
                </a:solidFill>
                <a:effectLst/>
                <a:uFillTx/>
                <a:latin typeface="Montserrat Heavy"/>
                <a:ea typeface="Montserrat Heavy"/>
              </a:rPr>
              <a:t> </a:t>
            </a:r>
            <a:r>
              <a:rPr b="1" lang="en-US" sz="4400" strike="noStrike" u="none">
                <a:solidFill>
                  <a:srgbClr val="0c1d4b"/>
                </a:solidFill>
                <a:effectLst/>
                <a:uFillTx/>
                <a:latin typeface="Montserrat Heavy"/>
                <a:ea typeface="Montserrat Heavy"/>
              </a:rPr>
              <a:t>Modules &amp; Sub Modules</a:t>
            </a: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16"/>
          <p:cNvSpPr/>
          <p:nvPr/>
        </p:nvSpPr>
        <p:spPr>
          <a:xfrm>
            <a:off x="12601440" y="9525240"/>
            <a:ext cx="4655880" cy="38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3220"/>
              </a:lnSpc>
            </a:pPr>
            <a:r>
              <a:rPr b="1" lang="en-US" sz="2300" spc="54" strike="noStrike" u="none">
                <a:solidFill>
                  <a:srgbClr val="ffffff"/>
                </a:solidFill>
                <a:effectLst/>
                <a:uFillTx/>
                <a:latin typeface="DM Sans Bold"/>
                <a:ea typeface="DM Sans Bold"/>
              </a:rPr>
              <a:t>MAJOR: INTERIOR DESIGN</a:t>
            </a:r>
            <a:endParaRPr b="0" lang="en-IN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5"/>
          <p:cNvSpPr/>
          <p:nvPr/>
        </p:nvSpPr>
        <p:spPr>
          <a:xfrm>
            <a:off x="5039640" y="1931760"/>
            <a:ext cx="11158560" cy="64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IN" sz="3200" strike="noStrike" u="sng">
                <a:solidFill>
                  <a:schemeClr val="dk1"/>
                </a:solidFill>
                <a:effectLst/>
                <a:uFillTx/>
                <a:latin typeface="Calibri"/>
              </a:rPr>
              <a:t>1.  User Module: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  <a:ea typeface="Times New Roman"/>
            </a:endParaRPr>
          </a:p>
          <a:p>
            <a:r>
              <a:rPr b="0" lang="en-IN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b="0" lang="en-IN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User registration  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  <a:ea typeface="Times New Roman"/>
            </a:endParaRPr>
          </a:p>
          <a:p>
            <a:r>
              <a:rPr b="0" lang="en-IN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b="0" lang="en-IN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Login/logout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  <a:ea typeface="Times New Roman"/>
            </a:endParaRPr>
          </a:p>
          <a:p>
            <a:r>
              <a:rPr b="0" lang="en-IN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b="0" lang="en-IN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Book Venues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  <a:ea typeface="Times New Roman"/>
            </a:endParaRPr>
          </a:p>
          <a:p>
            <a:r>
              <a:rPr b="0" lang="en-IN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b="0" lang="en-IN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Make Payment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  <a:ea typeface="Times New Roman"/>
            </a:endParaRPr>
          </a:p>
          <a:p>
            <a:r>
              <a:rPr b="0" lang="en-IN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b="0" lang="en-IN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Session management.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  <a:ea typeface="Times New Roman"/>
            </a:endParaRPr>
          </a:p>
          <a:p>
            <a:r>
              <a:rPr b="0" lang="en-IN" sz="3200" strike="noStrike" u="sng">
                <a:solidFill>
                  <a:schemeClr val="dk1"/>
                </a:solidFill>
                <a:effectLst/>
                <a:uFillTx/>
                <a:latin typeface="Calibri"/>
              </a:rPr>
              <a:t>2. Database Module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  <a:ea typeface="Times New Roman"/>
            </a:endParaRPr>
          </a:p>
          <a:p>
            <a:r>
              <a:rPr b="0" lang="en-IN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b="0" lang="en-IN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Create and update bookings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  <a:ea typeface="Times New Roman"/>
            </a:endParaRPr>
          </a:p>
          <a:p>
            <a:r>
              <a:rPr b="0" lang="en-IN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b="0" lang="en-IN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Event scheduling 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  <a:ea typeface="Times New Roman"/>
            </a:endParaRPr>
          </a:p>
          <a:p>
            <a:r>
              <a:rPr b="0" lang="en-IN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b="0" lang="en-IN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Event tracking.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  <a:ea typeface="Times New Roman"/>
            </a:endParaRPr>
          </a:p>
          <a:p>
            <a:r>
              <a:rPr b="0" lang="en-IN" sz="3200" strike="noStrike" u="sng">
                <a:solidFill>
                  <a:schemeClr val="dk1"/>
                </a:solidFill>
                <a:effectLst/>
                <a:uFillTx/>
                <a:latin typeface="Calibri"/>
              </a:rPr>
              <a:t>3. Admin Module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  <a:ea typeface="Times New Roman"/>
            </a:endParaRPr>
          </a:p>
          <a:p>
            <a:r>
              <a:rPr b="0" lang="en-IN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b="0" lang="en-IN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User Management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  <a:ea typeface="Times New Roman"/>
            </a:endParaRPr>
          </a:p>
          <a:p>
            <a:r>
              <a:rPr b="0" lang="en-IN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b="0" lang="en-IN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Venue Management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  <a:ea typeface="Times New Roman"/>
            </a:endParaRPr>
          </a:p>
        </p:txBody>
      </p:sp>
      <p:grpSp>
        <p:nvGrpSpPr>
          <p:cNvPr id="118" name="Group 4"/>
          <p:cNvGrpSpPr/>
          <p:nvPr/>
        </p:nvGrpSpPr>
        <p:grpSpPr>
          <a:xfrm>
            <a:off x="0" y="8965800"/>
            <a:ext cx="18286200" cy="1319760"/>
            <a:chOff x="0" y="8965800"/>
            <a:chExt cx="18286200" cy="1319760"/>
          </a:xfrm>
        </p:grpSpPr>
        <p:sp>
          <p:nvSpPr>
            <p:cNvPr id="119" name="Freeform 5"/>
            <p:cNvSpPr/>
            <p:nvPr/>
          </p:nvSpPr>
          <p:spPr>
            <a:xfrm>
              <a:off x="0" y="9029880"/>
              <a:ext cx="18286200" cy="1255680"/>
            </a:xfrm>
            <a:custGeom>
              <a:avLst/>
              <a:gdLst>
                <a:gd name="textAreaLeft" fmla="*/ 0 w 18286200"/>
                <a:gd name="textAreaRight" fmla="*/ 18288000 w 18286200"/>
                <a:gd name="textAreaTop" fmla="*/ 0 h 1255680"/>
                <a:gd name="textAreaBottom" fmla="*/ 1257480 h 1255680"/>
              </a:gdLst>
              <a:ahLst/>
              <a:cxnLst/>
              <a:rect l="textAreaLeft" t="textAreaTop" r="textAreaRight" b="textAreaBottom"/>
              <a:pathLst>
                <a:path w="5803466" h="939127">
                  <a:moveTo>
                    <a:pt x="0" y="0"/>
                  </a:moveTo>
                  <a:lnTo>
                    <a:pt x="5803466" y="0"/>
                  </a:lnTo>
                  <a:lnTo>
                    <a:pt x="5803466" y="939127"/>
                  </a:lnTo>
                  <a:lnTo>
                    <a:pt x="0" y="939127"/>
                  </a:lnTo>
                  <a:close/>
                </a:path>
              </a:pathLst>
            </a:custGeom>
            <a:solidFill>
              <a:srgbClr val="3c4f7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" name="TextBox 6"/>
            <p:cNvSpPr/>
            <p:nvPr/>
          </p:nvSpPr>
          <p:spPr>
            <a:xfrm>
              <a:off x="0" y="8965800"/>
              <a:ext cx="18286200" cy="1319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940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Box 6"/>
          <p:cNvSpPr/>
          <p:nvPr/>
        </p:nvSpPr>
        <p:spPr>
          <a:xfrm>
            <a:off x="6983640" y="49320"/>
            <a:ext cx="5614920" cy="76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4400" strike="noStrike" u="none">
                <a:solidFill>
                  <a:srgbClr val="0c1d4b"/>
                </a:solidFill>
                <a:effectLst/>
                <a:uFillTx/>
                <a:latin typeface="Montserrat Heavy"/>
              </a:rPr>
              <a:t>System Design</a:t>
            </a: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9"/>
          <p:cNvSpPr/>
          <p:nvPr/>
        </p:nvSpPr>
        <p:spPr>
          <a:xfrm>
            <a:off x="7920000" y="790200"/>
            <a:ext cx="2950560" cy="58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3200" strike="noStrike" u="none">
                <a:solidFill>
                  <a:srgbClr val="0c1d4b"/>
                </a:solidFill>
                <a:effectLst/>
                <a:uFillTx/>
                <a:latin typeface="Montserrat Heavy"/>
              </a:rPr>
              <a:t>(Wireframe)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3" name="Picture 8" descr=""/>
          <p:cNvPicPr/>
          <p:nvPr/>
        </p:nvPicPr>
        <p:blipFill>
          <a:blip r:embed="rId1"/>
          <a:stretch/>
        </p:blipFill>
        <p:spPr>
          <a:xfrm>
            <a:off x="3743280" y="1403280"/>
            <a:ext cx="11015280" cy="8658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Box 13"/>
          <p:cNvSpPr/>
          <p:nvPr/>
        </p:nvSpPr>
        <p:spPr>
          <a:xfrm>
            <a:off x="12601440" y="9525240"/>
            <a:ext cx="4655880" cy="38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3220"/>
              </a:lnSpc>
            </a:pPr>
            <a:r>
              <a:rPr b="1" lang="en-US" sz="2300" spc="54" strike="noStrike" u="none">
                <a:solidFill>
                  <a:srgbClr val="ffffff"/>
                </a:solidFill>
                <a:effectLst/>
                <a:uFillTx/>
                <a:latin typeface="DM Sans Bold"/>
                <a:ea typeface="DM Sans Bold"/>
              </a:rPr>
              <a:t>MAJOR: INTERIOR DESIGN</a:t>
            </a:r>
            <a:endParaRPr b="0" lang="en-IN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Box 9"/>
          <p:cNvSpPr/>
          <p:nvPr/>
        </p:nvSpPr>
        <p:spPr>
          <a:xfrm>
            <a:off x="6911640" y="102960"/>
            <a:ext cx="5542920" cy="76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4400" strike="noStrike" u="none">
                <a:solidFill>
                  <a:srgbClr val="0c1d4b"/>
                </a:solidFill>
                <a:effectLst/>
                <a:uFillTx/>
                <a:latin typeface="Montserrat Heavy"/>
              </a:rPr>
              <a:t>Data Dictionary</a:t>
            </a: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6" name="Group 4"/>
          <p:cNvGrpSpPr/>
          <p:nvPr/>
        </p:nvGrpSpPr>
        <p:grpSpPr>
          <a:xfrm>
            <a:off x="0" y="8965800"/>
            <a:ext cx="18286200" cy="1319760"/>
            <a:chOff x="0" y="8965800"/>
            <a:chExt cx="18286200" cy="1319760"/>
          </a:xfrm>
        </p:grpSpPr>
        <p:sp>
          <p:nvSpPr>
            <p:cNvPr id="127" name="Freeform 5"/>
            <p:cNvSpPr/>
            <p:nvPr/>
          </p:nvSpPr>
          <p:spPr>
            <a:xfrm>
              <a:off x="0" y="9029880"/>
              <a:ext cx="18286200" cy="1255680"/>
            </a:xfrm>
            <a:custGeom>
              <a:avLst/>
              <a:gdLst>
                <a:gd name="textAreaLeft" fmla="*/ 0 w 18286200"/>
                <a:gd name="textAreaRight" fmla="*/ 18288000 w 18286200"/>
                <a:gd name="textAreaTop" fmla="*/ 0 h 1255680"/>
                <a:gd name="textAreaBottom" fmla="*/ 1257480 h 1255680"/>
              </a:gdLst>
              <a:ahLst/>
              <a:cxnLst/>
              <a:rect l="textAreaLeft" t="textAreaTop" r="textAreaRight" b="textAreaBottom"/>
              <a:pathLst>
                <a:path w="5803466" h="939127">
                  <a:moveTo>
                    <a:pt x="0" y="0"/>
                  </a:moveTo>
                  <a:lnTo>
                    <a:pt x="5803466" y="0"/>
                  </a:lnTo>
                  <a:lnTo>
                    <a:pt x="5803466" y="939127"/>
                  </a:lnTo>
                  <a:lnTo>
                    <a:pt x="0" y="939127"/>
                  </a:lnTo>
                  <a:close/>
                </a:path>
              </a:pathLst>
            </a:custGeom>
            <a:solidFill>
              <a:srgbClr val="3c4f7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8" name="TextBox 6"/>
            <p:cNvSpPr/>
            <p:nvPr/>
          </p:nvSpPr>
          <p:spPr>
            <a:xfrm>
              <a:off x="0" y="8965800"/>
              <a:ext cx="18286200" cy="1319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940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aphicFrame>
        <p:nvGraphicFramePr>
          <p:cNvPr id="129" name="Table 3"/>
          <p:cNvGraphicFramePr/>
          <p:nvPr/>
        </p:nvGraphicFramePr>
        <p:xfrm>
          <a:off x="1160280" y="1137600"/>
          <a:ext cx="15966720" cy="6400800"/>
        </p:xfrm>
        <a:graphic>
          <a:graphicData uri="http://schemas.openxmlformats.org/drawingml/2006/table">
            <a:tbl>
              <a:tblPr/>
              <a:tblGrid>
                <a:gridCol w="3186720"/>
                <a:gridCol w="3220200"/>
                <a:gridCol w="3186720"/>
                <a:gridCol w="3186720"/>
                <a:gridCol w="3186720"/>
              </a:tblGrid>
              <a:tr h="914400">
                <a:tc gridSpan="5">
                  <a:txBody>
                    <a:bodyPr lIns="0" rIns="0" tIns="0" bIns="0" anchor="t">
                      <a:noAutofit/>
                    </a:bodyPr>
                    <a:p>
                      <a:pPr algn="ctr" defTabSz="914400">
                        <a:lnSpc>
                          <a:spcPct val="200000"/>
                        </a:lnSpc>
                      </a:pPr>
                      <a:r>
                        <a:rPr b="0" lang="en-US" sz="2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Calibri "/>
                        </a:rPr>
                        <a:t>User</a:t>
                      </a:r>
                      <a:endParaRPr b="0" lang="en-IN" sz="2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3d597b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914400"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User_id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INT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PRIMARY_KEY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Unique identifier for each user.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914400"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Name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VARCHAR(100)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-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Full name of the user.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914400"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Email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VARCHAR(100)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UNIQUE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Unique email address.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914400"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Password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VARCHAR(50)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-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Encrypted user password.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914400"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Role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ENUM(‘Attendee’,’Organize’)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DEFAULT(‘Attendee’)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Defines user role (Attendee, Organizer).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914400"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Created_At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TIMESTAMP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DEFAULT(CURRENT_TIMESTAMP)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Record creation timestamp.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Box 13"/>
          <p:cNvSpPr/>
          <p:nvPr/>
        </p:nvSpPr>
        <p:spPr>
          <a:xfrm>
            <a:off x="12601440" y="9525240"/>
            <a:ext cx="4655880" cy="38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3220"/>
              </a:lnSpc>
            </a:pPr>
            <a:r>
              <a:rPr b="1" lang="en-US" sz="2300" spc="54" strike="noStrike" u="none">
                <a:solidFill>
                  <a:srgbClr val="ffffff"/>
                </a:solidFill>
                <a:effectLst/>
                <a:uFillTx/>
                <a:latin typeface="DM Sans Bold"/>
                <a:ea typeface="DM Sans Bold"/>
              </a:rPr>
              <a:t>MAJOR: INTERIOR DESIGN</a:t>
            </a:r>
            <a:endParaRPr b="0" lang="en-IN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1" name="Group 4"/>
          <p:cNvGrpSpPr/>
          <p:nvPr/>
        </p:nvGrpSpPr>
        <p:grpSpPr>
          <a:xfrm>
            <a:off x="0" y="8965800"/>
            <a:ext cx="18286200" cy="1319760"/>
            <a:chOff x="0" y="8965800"/>
            <a:chExt cx="18286200" cy="1319760"/>
          </a:xfrm>
        </p:grpSpPr>
        <p:sp>
          <p:nvSpPr>
            <p:cNvPr id="132" name="Freeform 5"/>
            <p:cNvSpPr/>
            <p:nvPr/>
          </p:nvSpPr>
          <p:spPr>
            <a:xfrm>
              <a:off x="0" y="9029880"/>
              <a:ext cx="18286200" cy="1255680"/>
            </a:xfrm>
            <a:custGeom>
              <a:avLst/>
              <a:gdLst>
                <a:gd name="textAreaLeft" fmla="*/ 0 w 18286200"/>
                <a:gd name="textAreaRight" fmla="*/ 18288000 w 18286200"/>
                <a:gd name="textAreaTop" fmla="*/ 0 h 1255680"/>
                <a:gd name="textAreaBottom" fmla="*/ 1257480 h 1255680"/>
              </a:gdLst>
              <a:ahLst/>
              <a:cxnLst/>
              <a:rect l="textAreaLeft" t="textAreaTop" r="textAreaRight" b="textAreaBottom"/>
              <a:pathLst>
                <a:path w="5803466" h="939127">
                  <a:moveTo>
                    <a:pt x="0" y="0"/>
                  </a:moveTo>
                  <a:lnTo>
                    <a:pt x="5803466" y="0"/>
                  </a:lnTo>
                  <a:lnTo>
                    <a:pt x="5803466" y="939127"/>
                  </a:lnTo>
                  <a:lnTo>
                    <a:pt x="0" y="939127"/>
                  </a:lnTo>
                  <a:close/>
                </a:path>
              </a:pathLst>
            </a:custGeom>
            <a:solidFill>
              <a:srgbClr val="3c4f7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3" name="TextBox 6"/>
            <p:cNvSpPr/>
            <p:nvPr/>
          </p:nvSpPr>
          <p:spPr>
            <a:xfrm>
              <a:off x="0" y="8965800"/>
              <a:ext cx="18286200" cy="1319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940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aphicFrame>
        <p:nvGraphicFramePr>
          <p:cNvPr id="134" name="Table 2"/>
          <p:cNvGraphicFramePr/>
          <p:nvPr/>
        </p:nvGraphicFramePr>
        <p:xfrm>
          <a:off x="775080" y="95040"/>
          <a:ext cx="15984720" cy="9218880"/>
        </p:xfrm>
        <a:graphic>
          <a:graphicData uri="http://schemas.openxmlformats.org/drawingml/2006/table">
            <a:tbl>
              <a:tblPr/>
              <a:tblGrid>
                <a:gridCol w="3190320"/>
                <a:gridCol w="3223800"/>
                <a:gridCol w="3190320"/>
                <a:gridCol w="3190320"/>
                <a:gridCol w="3190320"/>
              </a:tblGrid>
              <a:tr h="864000">
                <a:tc gridSpan="5"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28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Calibri "/>
                        </a:rPr>
                        <a:t>Event</a:t>
                      </a:r>
                      <a:endParaRPr b="0" lang="en-IN" sz="2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3d597b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730080"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Event_id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INT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PRIMARY_KEY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Unique identifier for each event (Primary Key).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730080"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Organizer_id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INT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FOREIGN_KEY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User(User_id)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Reference to the user who organizes the event (Foreign Key).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778680">
                <a:tc>
                  <a:txBody>
                    <a:bodyPr lIns="0" rIns="0" tIns="9000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Category_id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000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9000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INT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000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9000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000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9000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FOREIGN_KEY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Category(Category_id)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000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9000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Category of the event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000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730080">
                <a:tc>
                  <a:txBody>
                    <a:bodyPr lIns="0" rIns="0" tIns="9000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Title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000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9000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VARCHAR(225)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000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9000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000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9000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-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000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9000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Name of the event.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000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730080">
                <a:tc>
                  <a:txBody>
                    <a:bodyPr lIns="0" rIns="0" tIns="9000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Description 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000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9000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TEXT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000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9000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000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9000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-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000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9000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Details about the event.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000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730080"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Location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VARCHAR(225)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-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Place where the event is held.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730080"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Date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DATE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-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Scheduled date of the event.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730080"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Start_Time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TIME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-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Start time of the event.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783000"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End_Time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TIME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-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Close time of the event.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841320"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Is_Public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BOOLEAN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DEFAULT(TRUE)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Defines if the event is public or private (default = public).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841320"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Created_At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TIMESTAMP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DEFAULT(CURRENT_TIMESTAMP)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9144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Timestamp when the event record was created.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9144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Box 13"/>
          <p:cNvSpPr/>
          <p:nvPr/>
        </p:nvSpPr>
        <p:spPr>
          <a:xfrm>
            <a:off x="12601440" y="9525240"/>
            <a:ext cx="4655880" cy="38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3220"/>
              </a:lnSpc>
            </a:pPr>
            <a:r>
              <a:rPr b="1" lang="en-US" sz="2300" spc="54" strike="noStrike" u="none">
                <a:solidFill>
                  <a:srgbClr val="ffffff"/>
                </a:solidFill>
                <a:effectLst/>
                <a:uFillTx/>
                <a:latin typeface="DM Sans Bold"/>
                <a:ea typeface="DM Sans Bold"/>
              </a:rPr>
              <a:t>MAJOR: INTERIOR DESIGN</a:t>
            </a:r>
            <a:endParaRPr b="0" lang="en-IN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6" name="Group 4"/>
          <p:cNvGrpSpPr/>
          <p:nvPr/>
        </p:nvGrpSpPr>
        <p:grpSpPr>
          <a:xfrm>
            <a:off x="0" y="8965800"/>
            <a:ext cx="18286200" cy="1319760"/>
            <a:chOff x="0" y="8965800"/>
            <a:chExt cx="18286200" cy="1319760"/>
          </a:xfrm>
        </p:grpSpPr>
        <p:sp>
          <p:nvSpPr>
            <p:cNvPr id="137" name="Freeform 5"/>
            <p:cNvSpPr/>
            <p:nvPr/>
          </p:nvSpPr>
          <p:spPr>
            <a:xfrm>
              <a:off x="0" y="9029880"/>
              <a:ext cx="18286200" cy="1255680"/>
            </a:xfrm>
            <a:custGeom>
              <a:avLst/>
              <a:gdLst>
                <a:gd name="textAreaLeft" fmla="*/ 0 w 18286200"/>
                <a:gd name="textAreaRight" fmla="*/ 18288000 w 18286200"/>
                <a:gd name="textAreaTop" fmla="*/ 0 h 1255680"/>
                <a:gd name="textAreaBottom" fmla="*/ 1257480 h 1255680"/>
              </a:gdLst>
              <a:ahLst/>
              <a:cxnLst/>
              <a:rect l="textAreaLeft" t="textAreaTop" r="textAreaRight" b="textAreaBottom"/>
              <a:pathLst>
                <a:path w="5803466" h="939127">
                  <a:moveTo>
                    <a:pt x="0" y="0"/>
                  </a:moveTo>
                  <a:lnTo>
                    <a:pt x="5803466" y="0"/>
                  </a:lnTo>
                  <a:lnTo>
                    <a:pt x="5803466" y="939127"/>
                  </a:lnTo>
                  <a:lnTo>
                    <a:pt x="0" y="939127"/>
                  </a:lnTo>
                  <a:close/>
                </a:path>
              </a:pathLst>
            </a:custGeom>
            <a:solidFill>
              <a:srgbClr val="3c4f7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8" name="TextBox 6"/>
            <p:cNvSpPr/>
            <p:nvPr/>
          </p:nvSpPr>
          <p:spPr>
            <a:xfrm>
              <a:off x="0" y="8965800"/>
              <a:ext cx="18286200" cy="1319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940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aphicFrame>
        <p:nvGraphicFramePr>
          <p:cNvPr id="139" name="Table 6"/>
          <p:cNvGraphicFramePr/>
          <p:nvPr/>
        </p:nvGraphicFramePr>
        <p:xfrm>
          <a:off x="1067040" y="400320"/>
          <a:ext cx="16140600" cy="4237560"/>
        </p:xfrm>
        <a:graphic>
          <a:graphicData uri="http://schemas.openxmlformats.org/drawingml/2006/table">
            <a:tbl>
              <a:tblPr/>
              <a:tblGrid>
                <a:gridCol w="3193560"/>
                <a:gridCol w="3227040"/>
                <a:gridCol w="3193560"/>
                <a:gridCol w="3193560"/>
                <a:gridCol w="3333240"/>
              </a:tblGrid>
              <a:tr h="838080">
                <a:tc gridSpan="5"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Event_Registration</a:t>
                      </a:r>
                      <a:endParaRPr b="0" lang="en-IN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3d597b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644040"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Registration_id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INT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PRIMARY_KEY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Unique identifier for each registration (Primary Key).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644040"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Event_id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INT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FOREIGN_KEY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Event(Event_id)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Reference to the event being registered (Foreign Key).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644040"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User_id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INT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FOREIGN_KEY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User(User_id)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Reference to the user who registered (Foreign Key).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644040"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Date_&amp;_Time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DATETIME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Scheduled date &amp; time of the event.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779760"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Registration_Time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TIMESTAMP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NOT_NULL 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DEFAULT(CURRENT_TIMESTAMP)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Timestamp when the registration was made (default = current time).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0" name="Table 7"/>
          <p:cNvGraphicFramePr/>
          <p:nvPr/>
        </p:nvGraphicFramePr>
        <p:xfrm>
          <a:off x="990720" y="4709160"/>
          <a:ext cx="16217280" cy="3999960"/>
        </p:xfrm>
        <a:graphic>
          <a:graphicData uri="http://schemas.openxmlformats.org/drawingml/2006/table">
            <a:tbl>
              <a:tblPr/>
              <a:tblGrid>
                <a:gridCol w="3186720"/>
                <a:gridCol w="3220200"/>
                <a:gridCol w="3186720"/>
                <a:gridCol w="3186720"/>
                <a:gridCol w="3437280"/>
              </a:tblGrid>
              <a:tr h="794160">
                <a:tc gridSpan="5"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20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Calibri "/>
                        </a:rPr>
                        <a:t>Tickets </a:t>
                      </a:r>
                      <a:endParaRPr b="0" lang="en-IN" sz="20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3d597b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794160"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Ticket_id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INT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PRIMARY_KEY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Unique identifier for each ticket (Primary Key).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794160"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Registration_id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INT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FOREIGN_KEY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Event_Registration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(Registration_id)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Links the ticket to an event registration (Foreign Key).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794160"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Ticket_code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INT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UNIQUE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Unique code assigned to the ticket.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794160"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Issued_At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TIMESTAMP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DEFAULT(CURRENT_TIMESTAMP)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Timestamp when the ticket was issued (default = current time).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Box 13"/>
          <p:cNvSpPr/>
          <p:nvPr/>
        </p:nvSpPr>
        <p:spPr>
          <a:xfrm>
            <a:off x="12601440" y="9525240"/>
            <a:ext cx="4655880" cy="38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3220"/>
              </a:lnSpc>
            </a:pPr>
            <a:r>
              <a:rPr b="1" lang="en-US" sz="2300" spc="54" strike="noStrike" u="none">
                <a:solidFill>
                  <a:srgbClr val="ffffff"/>
                </a:solidFill>
                <a:effectLst/>
                <a:uFillTx/>
                <a:latin typeface="DM Sans Bold"/>
                <a:ea typeface="DM Sans Bold"/>
              </a:rPr>
              <a:t>MAJOR: INTERIOR DESIGN</a:t>
            </a:r>
            <a:endParaRPr b="0" lang="en-IN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2" name="Group 4"/>
          <p:cNvGrpSpPr/>
          <p:nvPr/>
        </p:nvGrpSpPr>
        <p:grpSpPr>
          <a:xfrm>
            <a:off x="5760" y="9027720"/>
            <a:ext cx="18286200" cy="1319400"/>
            <a:chOff x="5760" y="9027720"/>
            <a:chExt cx="18286200" cy="1319400"/>
          </a:xfrm>
        </p:grpSpPr>
        <p:sp>
          <p:nvSpPr>
            <p:cNvPr id="143" name="Freeform 5"/>
            <p:cNvSpPr/>
            <p:nvPr/>
          </p:nvSpPr>
          <p:spPr>
            <a:xfrm>
              <a:off x="5760" y="9091440"/>
              <a:ext cx="18286200" cy="1255680"/>
            </a:xfrm>
            <a:custGeom>
              <a:avLst/>
              <a:gdLst>
                <a:gd name="textAreaLeft" fmla="*/ 0 w 18286200"/>
                <a:gd name="textAreaRight" fmla="*/ 18288000 w 18286200"/>
                <a:gd name="textAreaTop" fmla="*/ 0 h 1255680"/>
                <a:gd name="textAreaBottom" fmla="*/ 1257480 h 1255680"/>
              </a:gdLst>
              <a:ahLst/>
              <a:cxnLst/>
              <a:rect l="textAreaLeft" t="textAreaTop" r="textAreaRight" b="textAreaBottom"/>
              <a:pathLst>
                <a:path w="5803466" h="939127">
                  <a:moveTo>
                    <a:pt x="0" y="0"/>
                  </a:moveTo>
                  <a:lnTo>
                    <a:pt x="5803466" y="0"/>
                  </a:lnTo>
                  <a:lnTo>
                    <a:pt x="5803466" y="939127"/>
                  </a:lnTo>
                  <a:lnTo>
                    <a:pt x="0" y="939127"/>
                  </a:lnTo>
                  <a:close/>
                </a:path>
              </a:pathLst>
            </a:custGeom>
            <a:solidFill>
              <a:srgbClr val="3c4f7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4" name="TextBox 6"/>
            <p:cNvSpPr/>
            <p:nvPr/>
          </p:nvSpPr>
          <p:spPr>
            <a:xfrm>
              <a:off x="5760" y="9027720"/>
              <a:ext cx="18286200" cy="1319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940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aphicFrame>
        <p:nvGraphicFramePr>
          <p:cNvPr id="145" name="Table 1"/>
          <p:cNvGraphicFramePr/>
          <p:nvPr/>
        </p:nvGraphicFramePr>
        <p:xfrm>
          <a:off x="1236240" y="388080"/>
          <a:ext cx="15755760" cy="4840560"/>
        </p:xfrm>
        <a:graphic>
          <a:graphicData uri="http://schemas.openxmlformats.org/drawingml/2006/table">
            <a:tbl>
              <a:tblPr/>
              <a:tblGrid>
                <a:gridCol w="3144600"/>
                <a:gridCol w="3177720"/>
                <a:gridCol w="3144600"/>
                <a:gridCol w="3144600"/>
                <a:gridCol w="3144600"/>
              </a:tblGrid>
              <a:tr h="806760">
                <a:tc gridSpan="5"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20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Calibri "/>
                        </a:rPr>
                        <a:t>Contact_Message</a:t>
                      </a:r>
                      <a:endParaRPr b="0" lang="en-IN" sz="20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3d597b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806760"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Contact_message_id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INT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PRIMARY_KEY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Unique identifier for each contact message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806760"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Name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VARCHAR(100)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-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Name of the person sending the message.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806760"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Email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VARCHAR(100)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-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Email address of the sender.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806760"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Message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TEXT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-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The actual message content.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806760"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Sent_At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TIMESTAMP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DEFAULT(CURRENT_TIMESTAMP)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Timestamp when the message was sent (default = current time).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6" name="Table 2"/>
          <p:cNvGraphicFramePr/>
          <p:nvPr/>
        </p:nvGraphicFramePr>
        <p:xfrm>
          <a:off x="1095480" y="5793480"/>
          <a:ext cx="15831360" cy="2640600"/>
        </p:xfrm>
        <a:graphic>
          <a:graphicData uri="http://schemas.openxmlformats.org/drawingml/2006/table">
            <a:tbl>
              <a:tblPr/>
              <a:tblGrid>
                <a:gridCol w="3159720"/>
                <a:gridCol w="3192840"/>
                <a:gridCol w="3159720"/>
                <a:gridCol w="3159720"/>
                <a:gridCol w="3159720"/>
              </a:tblGrid>
              <a:tr h="811800">
                <a:tc gridSpan="5"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20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Calibri "/>
                        </a:rPr>
                        <a:t>Category</a:t>
                      </a:r>
                      <a:endParaRPr b="0" lang="en-IN" sz="20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3d597b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914400"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Category_id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INT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PRIMARY_KEY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Unique identifier for each category (Primary Key).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914400"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Name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VARCHAR(100)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UNIQUE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Name of the category (must be unique).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extBox 13"/>
          <p:cNvSpPr/>
          <p:nvPr/>
        </p:nvSpPr>
        <p:spPr>
          <a:xfrm>
            <a:off x="12601440" y="9525240"/>
            <a:ext cx="4655880" cy="38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3220"/>
              </a:lnSpc>
            </a:pPr>
            <a:r>
              <a:rPr b="1" lang="en-US" sz="2300" spc="54" strike="noStrike" u="none">
                <a:solidFill>
                  <a:srgbClr val="ffffff"/>
                </a:solidFill>
                <a:effectLst/>
                <a:uFillTx/>
                <a:latin typeface="DM Sans Bold"/>
                <a:ea typeface="DM Sans Bold"/>
              </a:rPr>
              <a:t>MAJOR: INTERIOR DESIGN</a:t>
            </a:r>
            <a:endParaRPr b="0" lang="en-IN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8" name="Group 4"/>
          <p:cNvGrpSpPr/>
          <p:nvPr/>
        </p:nvGrpSpPr>
        <p:grpSpPr>
          <a:xfrm>
            <a:off x="5760" y="9027720"/>
            <a:ext cx="18286200" cy="1319400"/>
            <a:chOff x="5760" y="9027720"/>
            <a:chExt cx="18286200" cy="1319400"/>
          </a:xfrm>
        </p:grpSpPr>
        <p:sp>
          <p:nvSpPr>
            <p:cNvPr id="149" name="Freeform 5"/>
            <p:cNvSpPr/>
            <p:nvPr/>
          </p:nvSpPr>
          <p:spPr>
            <a:xfrm>
              <a:off x="5760" y="9091440"/>
              <a:ext cx="18286200" cy="1255680"/>
            </a:xfrm>
            <a:custGeom>
              <a:avLst/>
              <a:gdLst>
                <a:gd name="textAreaLeft" fmla="*/ 0 w 18286200"/>
                <a:gd name="textAreaRight" fmla="*/ 18288000 w 18286200"/>
                <a:gd name="textAreaTop" fmla="*/ 0 h 1255680"/>
                <a:gd name="textAreaBottom" fmla="*/ 1257480 h 1255680"/>
              </a:gdLst>
              <a:ahLst/>
              <a:cxnLst/>
              <a:rect l="textAreaLeft" t="textAreaTop" r="textAreaRight" b="textAreaBottom"/>
              <a:pathLst>
                <a:path w="5803466" h="939127">
                  <a:moveTo>
                    <a:pt x="0" y="0"/>
                  </a:moveTo>
                  <a:lnTo>
                    <a:pt x="5803466" y="0"/>
                  </a:lnTo>
                  <a:lnTo>
                    <a:pt x="5803466" y="939127"/>
                  </a:lnTo>
                  <a:lnTo>
                    <a:pt x="0" y="939127"/>
                  </a:lnTo>
                  <a:close/>
                </a:path>
              </a:pathLst>
            </a:custGeom>
            <a:solidFill>
              <a:srgbClr val="3c4f7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0" name="TextBox 6"/>
            <p:cNvSpPr/>
            <p:nvPr/>
          </p:nvSpPr>
          <p:spPr>
            <a:xfrm>
              <a:off x="5760" y="9027720"/>
              <a:ext cx="18286200" cy="1319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940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aphicFrame>
        <p:nvGraphicFramePr>
          <p:cNvPr id="151" name="Table 4"/>
          <p:cNvGraphicFramePr/>
          <p:nvPr/>
        </p:nvGraphicFramePr>
        <p:xfrm>
          <a:off x="1199160" y="1892880"/>
          <a:ext cx="15977520" cy="5233680"/>
        </p:xfrm>
        <a:graphic>
          <a:graphicData uri="http://schemas.openxmlformats.org/drawingml/2006/table">
            <a:tbl>
              <a:tblPr/>
              <a:tblGrid>
                <a:gridCol w="3188880"/>
                <a:gridCol w="3222360"/>
                <a:gridCol w="3188880"/>
                <a:gridCol w="3188880"/>
                <a:gridCol w="3188880"/>
              </a:tblGrid>
              <a:tr h="759600">
                <a:tc gridSpan="5"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</a:pPr>
                      <a:r>
                        <a:rPr b="0" lang="en-US" sz="2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Calibri "/>
                        </a:rPr>
                        <a:t>Sessions</a:t>
                      </a:r>
                      <a:endParaRPr b="0" lang="en-IN" sz="2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3d597b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759600"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Session_id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INT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PRIMARY_KEY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Unique identifier for each session (Primary Key).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759600"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Event_id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INT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FOREIGN_KEY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Event(Event_id)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Reference to the related event (Foreign Key).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759600"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Title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VARCHAR(100)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-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Name or title of the session.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759600"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Speaker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VARCHAR(100)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-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Person presenting the session.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759600"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Start_Time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TIME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-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Time when the session begins.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676080"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End_Time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TIME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-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Time when the session ends.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Box 13"/>
          <p:cNvSpPr/>
          <p:nvPr/>
        </p:nvSpPr>
        <p:spPr>
          <a:xfrm>
            <a:off x="12601440" y="9525240"/>
            <a:ext cx="4655880" cy="38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3220"/>
              </a:lnSpc>
            </a:pPr>
            <a:r>
              <a:rPr b="1" lang="en-US" sz="2300" spc="54" strike="noStrike" u="none">
                <a:solidFill>
                  <a:srgbClr val="ffffff"/>
                </a:solidFill>
                <a:effectLst/>
                <a:uFillTx/>
                <a:latin typeface="DM Sans Bold"/>
                <a:ea typeface="DM Sans Bold"/>
              </a:rPr>
              <a:t>MAJOR: INTERIOR DESIGN</a:t>
            </a:r>
            <a:endParaRPr b="0" lang="en-IN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3" name="Group 4"/>
          <p:cNvGrpSpPr/>
          <p:nvPr/>
        </p:nvGrpSpPr>
        <p:grpSpPr>
          <a:xfrm>
            <a:off x="-36720" y="9900000"/>
            <a:ext cx="18288000" cy="1618560"/>
            <a:chOff x="-36720" y="9900000"/>
            <a:chExt cx="18288000" cy="1618560"/>
          </a:xfrm>
        </p:grpSpPr>
        <p:sp>
          <p:nvSpPr>
            <p:cNvPr id="154" name="Freeform 5"/>
            <p:cNvSpPr/>
            <p:nvPr/>
          </p:nvSpPr>
          <p:spPr>
            <a:xfrm>
              <a:off x="-34920" y="9978120"/>
              <a:ext cx="18286200" cy="1540440"/>
            </a:xfrm>
            <a:custGeom>
              <a:avLst/>
              <a:gdLst>
                <a:gd name="textAreaLeft" fmla="*/ 0 w 18286200"/>
                <a:gd name="textAreaRight" fmla="*/ 18288000 w 18286200"/>
                <a:gd name="textAreaTop" fmla="*/ 0 h 1540440"/>
                <a:gd name="textAreaBottom" fmla="*/ 1542240 h 1540440"/>
              </a:gdLst>
              <a:ahLst/>
              <a:cxnLst/>
              <a:rect l="textAreaLeft" t="textAreaTop" r="textAreaRight" b="textAreaBottom"/>
              <a:pathLst>
                <a:path w="5803466" h="939127">
                  <a:moveTo>
                    <a:pt x="0" y="0"/>
                  </a:moveTo>
                  <a:lnTo>
                    <a:pt x="5803466" y="0"/>
                  </a:lnTo>
                  <a:lnTo>
                    <a:pt x="5803466" y="939127"/>
                  </a:lnTo>
                  <a:lnTo>
                    <a:pt x="0" y="939127"/>
                  </a:lnTo>
                  <a:close/>
                </a:path>
              </a:pathLst>
            </a:custGeom>
            <a:solidFill>
              <a:srgbClr val="3c4f7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5" name="TextBox 6"/>
            <p:cNvSpPr/>
            <p:nvPr/>
          </p:nvSpPr>
          <p:spPr>
            <a:xfrm>
              <a:off x="-36720" y="9900000"/>
              <a:ext cx="18286200" cy="1618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940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aphicFrame>
        <p:nvGraphicFramePr>
          <p:cNvPr id="156" name="Table 1"/>
          <p:cNvGraphicFramePr/>
          <p:nvPr/>
        </p:nvGraphicFramePr>
        <p:xfrm>
          <a:off x="990720" y="342720"/>
          <a:ext cx="15966720" cy="3989520"/>
        </p:xfrm>
        <a:graphic>
          <a:graphicData uri="http://schemas.openxmlformats.org/drawingml/2006/table">
            <a:tbl>
              <a:tblPr/>
              <a:tblGrid>
                <a:gridCol w="3186720"/>
                <a:gridCol w="3220200"/>
                <a:gridCol w="3186720"/>
                <a:gridCol w="3186720"/>
                <a:gridCol w="3186720"/>
              </a:tblGrid>
              <a:tr h="664920">
                <a:tc gridSpan="5"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20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Calibri "/>
                        </a:rPr>
                        <a:t>Notification</a:t>
                      </a:r>
                      <a:endParaRPr b="0" lang="en-IN" sz="20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3d597b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664920"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Notification_id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INT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PRIMARY_KEY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Unique identifier for each notification (Primary Key).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664920"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User_id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INT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FOREIGN_KEY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User(User_id)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Reference to the user receiving the notification (Foreign Key).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664920"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Event_id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Int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FOREIGN_KEY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Event(Event_id)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Reference to the event receiving the notification (Foreign Key).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664920"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Message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TEXT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-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The notification content or text.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664920"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Sent_At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TIMESTAMP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 "/>
                        </a:rPr>
                        <a:t>DEFAULT(CURRENT_TIMESTAMP)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Timestamp when the notification was sent (default = current time).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7" name="Table 6"/>
          <p:cNvGraphicFramePr/>
          <p:nvPr/>
        </p:nvGraphicFramePr>
        <p:xfrm>
          <a:off x="990720" y="4495320"/>
          <a:ext cx="15966720" cy="5309280"/>
        </p:xfrm>
        <a:graphic>
          <a:graphicData uri="http://schemas.openxmlformats.org/drawingml/2006/table">
            <a:tbl>
              <a:tblPr/>
              <a:tblGrid>
                <a:gridCol w="3186720"/>
                <a:gridCol w="3220200"/>
                <a:gridCol w="3186720"/>
                <a:gridCol w="3186720"/>
                <a:gridCol w="3186720"/>
              </a:tblGrid>
              <a:tr h="614520">
                <a:tc gridSpan="5"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Feedback </a:t>
                      </a:r>
                      <a:endParaRPr b="0" lang="en-IN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3d597b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772560"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Feedback_id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INT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b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PRIMARY_KEY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Unique identifier for each feedback (Primary Key).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772560"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Event_id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INT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FOREIGN_KEY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Event(Event_id)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IN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Reference to the event which the user attended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772560"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Name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VARCHAR(100)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-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Stores the user's name; must be unique and not null (Primary Key).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831960"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Phone_No.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INT(32)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-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Stores a 32-bit integer for the user's phone number; required field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772560"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Email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VARCHAR(100)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-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Stores the user's email address; cannot be null.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772560"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Comment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TEXT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NOT_NULL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-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lIns="0" rIns="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Stores feedback or comments from the user; must be provided.</a:t>
                      </a:r>
                      <a:endParaRPr b="0" lang="en-IN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Box 4"/>
          <p:cNvSpPr/>
          <p:nvPr/>
        </p:nvSpPr>
        <p:spPr>
          <a:xfrm>
            <a:off x="6623640" y="102960"/>
            <a:ext cx="5038920" cy="76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4400" strike="noStrike" u="none">
                <a:solidFill>
                  <a:srgbClr val="0c1d4b"/>
                </a:solidFill>
                <a:effectLst/>
                <a:uFillTx/>
                <a:latin typeface="Montserrat Heavy"/>
              </a:rPr>
              <a:t>UML Diagrams</a:t>
            </a: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6"/>
          <p:cNvSpPr/>
          <p:nvPr/>
        </p:nvSpPr>
        <p:spPr>
          <a:xfrm>
            <a:off x="33120" y="1038960"/>
            <a:ext cx="3238560" cy="58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c1d4b"/>
              </a:buClr>
              <a:buFont typeface="Wingdings" charset="2"/>
              <a:buChar char=""/>
            </a:pPr>
            <a:r>
              <a:rPr b="1" lang="en-US" sz="3200" strike="noStrike" u="none">
                <a:solidFill>
                  <a:srgbClr val="0c1d4b"/>
                </a:solidFill>
                <a:effectLst/>
                <a:uFillTx/>
                <a:latin typeface="Montserrat Heavy"/>
              </a:rPr>
              <a:t>Use Case :</a:t>
            </a:r>
            <a:endParaRPr b="0" lang="en-IN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0" name="" descr=""/>
          <p:cNvPicPr/>
          <p:nvPr/>
        </p:nvPicPr>
        <p:blipFill>
          <a:blip r:embed="rId1"/>
          <a:srcRect l="1723" t="2663" r="1723" b="25389"/>
          <a:stretch/>
        </p:blipFill>
        <p:spPr>
          <a:xfrm>
            <a:off x="3579120" y="720720"/>
            <a:ext cx="9920520" cy="9565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TextBox 2"/>
          <p:cNvSpPr/>
          <p:nvPr/>
        </p:nvSpPr>
        <p:spPr>
          <a:xfrm>
            <a:off x="6155640" y="102960"/>
            <a:ext cx="608400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c1d4b"/>
              </a:buClr>
              <a:buFont typeface="Wingdings" charset="2"/>
              <a:buChar char=""/>
            </a:pPr>
            <a:r>
              <a:rPr b="1" lang="en-US" sz="4400" strike="noStrike" u="none">
                <a:solidFill>
                  <a:srgbClr val="0c1d4b"/>
                </a:solidFill>
                <a:effectLst/>
                <a:uFillTx/>
                <a:latin typeface="Montserrat Heavy"/>
              </a:rPr>
              <a:t>Class Diagram :</a:t>
            </a:r>
            <a:endParaRPr b="0" lang="en-IN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2" name="" descr=""/>
          <p:cNvPicPr/>
          <p:nvPr/>
        </p:nvPicPr>
        <p:blipFill>
          <a:blip r:embed="rId1"/>
          <a:srcRect l="4280" t="17810" r="3082" b="14183"/>
          <a:stretch/>
        </p:blipFill>
        <p:spPr>
          <a:xfrm>
            <a:off x="4320000" y="900000"/>
            <a:ext cx="9359640" cy="889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TextBox 9"/>
          <p:cNvSpPr/>
          <p:nvPr/>
        </p:nvSpPr>
        <p:spPr>
          <a:xfrm>
            <a:off x="3334320" y="3653640"/>
            <a:ext cx="11617560" cy="160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2121"/>
              </a:lnSpc>
            </a:pPr>
            <a:r>
              <a:rPr b="1" lang="en-US" sz="12000" strike="noStrike" u="none">
                <a:solidFill>
                  <a:srgbClr val="002060"/>
                </a:solidFill>
                <a:effectLst/>
                <a:uFillTx/>
                <a:latin typeface="Montserrat Heavy"/>
                <a:ea typeface="Montserrat Heavy"/>
              </a:rPr>
              <a:t>THANK YOU</a:t>
            </a:r>
            <a:endParaRPr b="0" lang="en-IN" sz="1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64" name="Group 12"/>
          <p:cNvGrpSpPr/>
          <p:nvPr/>
        </p:nvGrpSpPr>
        <p:grpSpPr>
          <a:xfrm>
            <a:off x="14760" y="9431640"/>
            <a:ext cx="18271440" cy="853560"/>
            <a:chOff x="14760" y="9431640"/>
            <a:chExt cx="18271440" cy="853560"/>
          </a:xfrm>
        </p:grpSpPr>
        <p:sp>
          <p:nvSpPr>
            <p:cNvPr id="165" name="Freeform 13"/>
            <p:cNvSpPr/>
            <p:nvPr/>
          </p:nvSpPr>
          <p:spPr>
            <a:xfrm>
              <a:off x="14760" y="9473040"/>
              <a:ext cx="18271440" cy="812160"/>
            </a:xfrm>
            <a:custGeom>
              <a:avLst/>
              <a:gdLst>
                <a:gd name="textAreaLeft" fmla="*/ 0 w 18271440"/>
                <a:gd name="textAreaRight" fmla="*/ 18273240 w 18271440"/>
                <a:gd name="textAreaTop" fmla="*/ 0 h 812160"/>
                <a:gd name="textAreaBottom" fmla="*/ 813960 h 812160"/>
              </a:gdLst>
              <a:ahLst/>
              <a:cxnLst/>
              <a:rect l="textAreaLeft" t="textAreaTop" r="textAreaRight" b="textAreaBottom"/>
              <a:pathLst>
                <a:path w="5803466" h="939127">
                  <a:moveTo>
                    <a:pt x="0" y="0"/>
                  </a:moveTo>
                  <a:lnTo>
                    <a:pt x="5803466" y="0"/>
                  </a:lnTo>
                  <a:lnTo>
                    <a:pt x="5803466" y="939127"/>
                  </a:lnTo>
                  <a:lnTo>
                    <a:pt x="0" y="939127"/>
                  </a:lnTo>
                  <a:close/>
                </a:path>
              </a:pathLst>
            </a:custGeom>
            <a:solidFill>
              <a:srgbClr val="3c4f7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IN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6" name="TextBox 14"/>
            <p:cNvSpPr/>
            <p:nvPr/>
          </p:nvSpPr>
          <p:spPr>
            <a:xfrm>
              <a:off x="14760" y="9431640"/>
              <a:ext cx="18271440" cy="853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940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Presentation</Template>
  <TotalTime>576</TotalTime>
  <Application>LibreOffice/25.8.1.1$Windows_X86_64 LibreOffice_project/54047653041915e595ad4e45cccea684809c77b5</Application>
  <AppVersion>15.0000</AppVersion>
  <Words>1444</Words>
  <Paragraphs>340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2025-09-05T06:27:31Z</dcterms:created>
  <dc:creator>Parth</dc:creator>
  <dc:description/>
  <dc:identifier>DAGvHLX0dSE</dc:identifier>
  <dc:language>en-IN</dc:language>
  <cp:lastModifiedBy/>
  <dcterms:modified xsi:type="dcterms:W3CDTF">2025-11-27T02:12:12Z</dcterms:modified>
  <cp:revision>47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Custom</vt:lpwstr>
  </property>
  <property fmtid="{D5CDD505-2E9C-101B-9397-08002B2CF9AE}" pid="3" name="Slides">
    <vt:i4>18</vt:i4>
  </property>
</Properties>
</file>