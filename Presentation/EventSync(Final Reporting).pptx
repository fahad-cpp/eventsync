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4_DM_Sans_BoldItalic.fntdata" ContentType="application/x-fontdata"/>
  <Override PartName="/ppt/fonts/Font_1_DM_Sans_Regular.fntdata" ContentType="application/x-fontdata"/>
  <Override PartName="/ppt/fonts/Font_3_DM_Sans_Italic.fntdata" ContentType="application/x-fontdata"/>
  <Override PartName="/ppt/fonts/Font_2_DM_Sans_Bold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3.png" ContentType="image/png"/>
  <Override PartName="/ppt/media/image1.jpeg" ContentType="image/jpeg"/>
  <Override PartName="/ppt/media/image2.png" ContentType="image/png"/>
  <Override PartName="/ppt/media/image4.png" ContentType="image/png"/>
  <Override PartName="/ppt/media/image5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7559675" cy="10691813"/>
  <p:embeddedFontLst>
    <p:embeddedFont>
      <p:font typeface="DM Sans"/>
      <p:regular r:id="rId21"/>
      <p:bold r:id="rId22"/>
      <p:italic r:id="rId23"/>
      <p:boldItalic r:id="rId24"/>
    </p:embeddedFont>
    <p:embeddedFont>
      <p:font typeface="Montserrat Heavy"/>
    </p:embeddedFont>
    <p:embeddedFont>
      <p:font typeface="DM Sans Bold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font" Target="fonts/Font_1_DM_Sans_Regular.fntdata"/><Relationship Id="rId22" Type="http://schemas.openxmlformats.org/officeDocument/2006/relationships/font" Target="fonts/Font_2_DM_Sans_Bold.fntdata"/><Relationship Id="rId23" Type="http://schemas.openxmlformats.org/officeDocument/2006/relationships/font" Target="fonts/Font_3_DM_Sans_Italic.fntdata"/><Relationship Id="rId24" Type="http://schemas.openxmlformats.org/officeDocument/2006/relationships/font" Target="fonts/Font_4_DM_Sans_BoldItalic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A79DE7-E324-4E85-B077-71309CB00D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E3E3FD-9284-4A2F-9604-0ACFFCFC140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E12EA3-1750-4350-986D-4B63427CA9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A51C6C-FB26-4529-8A65-22D2D65C78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48E4FC-82A7-4F1B-95BE-1123453F3B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86BC12-0953-406A-B800-F81BC20618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DDA2D3-056E-4E05-9211-590E80C7F4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734150-F1D7-467D-B83C-B4748D93C8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E7EA9E-0CF0-4B9D-9C87-16B984A1E4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05057C-CFD0-4B2C-BCC4-CCC6CD488B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400" cy="171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400" cy="59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656E6A-9D1E-4B95-89A9-5895757736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3"/>
          <p:cNvGrpSpPr/>
          <p:nvPr/>
        </p:nvGrpSpPr>
        <p:grpSpPr>
          <a:xfrm>
            <a:off x="0" y="9005400"/>
            <a:ext cx="18286200" cy="1359360"/>
            <a:chOff x="0" y="9005400"/>
            <a:chExt cx="18286200" cy="1359360"/>
          </a:xfrm>
        </p:grpSpPr>
        <p:sp>
          <p:nvSpPr>
            <p:cNvPr id="62" name="Freeform 4"/>
            <p:cNvSpPr/>
            <p:nvPr/>
          </p:nvSpPr>
          <p:spPr>
            <a:xfrm>
              <a:off x="0" y="9071280"/>
              <a:ext cx="18286200" cy="12934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93480"/>
                <a:gd name="textAreaBottom" fmla="*/ 1295280 h 12934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5"/>
            <p:cNvSpPr/>
            <p:nvPr/>
          </p:nvSpPr>
          <p:spPr>
            <a:xfrm>
              <a:off x="0" y="9005400"/>
              <a:ext cx="18286200" cy="13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4" name="TextBox 10"/>
          <p:cNvSpPr/>
          <p:nvPr/>
        </p:nvSpPr>
        <p:spPr>
          <a:xfrm>
            <a:off x="1209240" y="3915000"/>
            <a:ext cx="8825040" cy="12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100"/>
              </a:lnSpc>
            </a:pPr>
            <a:r>
              <a:rPr b="1" lang="en-US" sz="10000" strike="noStrike" u="none">
                <a:solidFill>
                  <a:srgbClr val="002060"/>
                </a:solidFill>
                <a:effectLst/>
                <a:uFillTx/>
                <a:latin typeface="Montserrat Heavy"/>
                <a:ea typeface="Montserrat Heavy"/>
              </a:rPr>
              <a:t>Event Sync</a:t>
            </a:r>
            <a:endParaRPr b="0" lang="en-IN" sz="10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1171080" y="7349760"/>
            <a:ext cx="87058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198"/>
              </a:lnSpc>
            </a:pPr>
            <a:r>
              <a:rPr b="1" lang="en-US" sz="3000" spc="71" strike="noStrike" u="none">
                <a:solidFill>
                  <a:srgbClr val="0c1d4b"/>
                </a:solidFill>
                <a:effectLst/>
                <a:uFillTx/>
                <a:latin typeface="DM Sans Bold"/>
                <a:ea typeface="DM Sans Bold"/>
              </a:rPr>
              <a:t>JG University | BCA – Semester 5 | Division-E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3" descr=""/>
          <p:cNvPicPr/>
          <p:nvPr/>
        </p:nvPicPr>
        <p:blipFill>
          <a:blip r:embed="rId1"/>
          <a:stretch/>
        </p:blipFill>
        <p:spPr>
          <a:xfrm>
            <a:off x="10515600" y="2642760"/>
            <a:ext cx="4875120" cy="426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2"/>
          <p:cNvSpPr/>
          <p:nvPr/>
        </p:nvSpPr>
        <p:spPr>
          <a:xfrm>
            <a:off x="6477120" y="-343080"/>
            <a:ext cx="5332320" cy="12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0100"/>
              </a:lnSpc>
            </a:pPr>
            <a:r>
              <a:rPr b="1" lang="en-US" sz="4800" strike="noStrike" u="none">
                <a:solidFill>
                  <a:srgbClr val="002060"/>
                </a:solidFill>
                <a:effectLst/>
                <a:uFillTx/>
                <a:latin typeface="Montserrat Heavy"/>
                <a:ea typeface="Montserrat Heavy"/>
              </a:rPr>
              <a:t>Team Members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903640" y="1830960"/>
            <a:ext cx="625752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Krish Gohil (1416)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Harsh Darji (1417)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Ikrama kathiyara (1426)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Rudra Padhiyar (1437)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Fahad Shaikh (1452)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-2160" y="9046080"/>
            <a:ext cx="18288360" cy="1239120"/>
            <a:chOff x="-2160" y="9046080"/>
            <a:chExt cx="18288360" cy="1239120"/>
          </a:xfrm>
        </p:grpSpPr>
        <p:sp>
          <p:nvSpPr>
            <p:cNvPr id="70" name="Freeform 10"/>
            <p:cNvSpPr/>
            <p:nvPr/>
          </p:nvSpPr>
          <p:spPr>
            <a:xfrm>
              <a:off x="-2160" y="9105840"/>
              <a:ext cx="18288360" cy="1179360"/>
            </a:xfrm>
            <a:custGeom>
              <a:avLst/>
              <a:gdLst>
                <a:gd name="textAreaLeft" fmla="*/ 0 w 18288360"/>
                <a:gd name="textAreaRight" fmla="*/ 18290160 w 18288360"/>
                <a:gd name="textAreaTop" fmla="*/ 0 h 1179360"/>
                <a:gd name="textAreaBottom" fmla="*/ 1181160 h 117936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11"/>
            <p:cNvSpPr/>
            <p:nvPr/>
          </p:nvSpPr>
          <p:spPr>
            <a:xfrm>
              <a:off x="-2160" y="9046080"/>
              <a:ext cx="18288360" cy="123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5"/>
          <p:cNvSpPr/>
          <p:nvPr/>
        </p:nvSpPr>
        <p:spPr>
          <a:xfrm>
            <a:off x="5111640" y="0"/>
            <a:ext cx="76258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65"/>
              </a:lnSpc>
            </a:pPr>
            <a:r>
              <a:rPr b="1" lang="en-US" sz="54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Introduction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875160" y="1741320"/>
            <a:ext cx="16533720" cy="32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802800" indent="-457200" defTabSz="914400">
              <a:lnSpc>
                <a:spcPts val="6398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EventSync is a web-based event management system designed to simplify the process of managing, scheduling, and tracking event venue bookings.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2800" indent="-457200" defTabSz="914400">
              <a:lnSpc>
                <a:spcPts val="6398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system provides a structured and secure platform for users to create accounts, log in, and interact with event-related services.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9"/>
          <p:cNvGrpSpPr/>
          <p:nvPr/>
        </p:nvGrpSpPr>
        <p:grpSpPr>
          <a:xfrm>
            <a:off x="-2160" y="9046080"/>
            <a:ext cx="18288360" cy="1239120"/>
            <a:chOff x="-2160" y="9046080"/>
            <a:chExt cx="18288360" cy="1239120"/>
          </a:xfrm>
        </p:grpSpPr>
        <p:sp>
          <p:nvSpPr>
            <p:cNvPr id="75" name="Freeform 10"/>
            <p:cNvSpPr/>
            <p:nvPr/>
          </p:nvSpPr>
          <p:spPr>
            <a:xfrm>
              <a:off x="-2160" y="9105840"/>
              <a:ext cx="18288360" cy="1179360"/>
            </a:xfrm>
            <a:custGeom>
              <a:avLst/>
              <a:gdLst>
                <a:gd name="textAreaLeft" fmla="*/ 0 w 18288360"/>
                <a:gd name="textAreaRight" fmla="*/ 18290160 w 18288360"/>
                <a:gd name="textAreaTop" fmla="*/ 0 h 1179360"/>
                <a:gd name="textAreaBottom" fmla="*/ 1181160 h 117936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11"/>
            <p:cNvSpPr/>
            <p:nvPr/>
          </p:nvSpPr>
          <p:spPr>
            <a:xfrm>
              <a:off x="-2160" y="9046080"/>
              <a:ext cx="18288360" cy="123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78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0" name="TextBox 9"/>
          <p:cNvSpPr/>
          <p:nvPr/>
        </p:nvSpPr>
        <p:spPr>
          <a:xfrm>
            <a:off x="6839640" y="-34560"/>
            <a:ext cx="338940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565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Objectives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140000" y="1980000"/>
            <a:ext cx="907272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Simplify Venue Booking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Automate Administrative Tasks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Centralize Event Management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Improve Customer Experience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Improve Communication via Notifications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6400800" y="3771000"/>
            <a:ext cx="914220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IN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4572000" y="4331520"/>
            <a:ext cx="89136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57600" defTabSz="914400">
              <a:lnSpc>
                <a:spcPct val="100000"/>
              </a:lnSpc>
            </a:pPr>
            <a:endParaRPr b="1" lang="en-IN" sz="28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6"/>
          <p:cNvSpPr/>
          <p:nvPr/>
        </p:nvSpPr>
        <p:spPr>
          <a:xfrm>
            <a:off x="6109920" y="-14040"/>
            <a:ext cx="606636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565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Existing System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3383280" y="1100880"/>
            <a:ext cx="11303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Organizing events such as weddings or birthdays involves multiple tasks like registration, venue booking, scheduling, and communication with participants.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3383280" y="2775960"/>
            <a:ext cx="9142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When these activities are managed manually , it often leads to errors , time delays , miscommunication , and data loss.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89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1" name="TextBox 15"/>
          <p:cNvSpPr/>
          <p:nvPr/>
        </p:nvSpPr>
        <p:spPr>
          <a:xfrm>
            <a:off x="5399640" y="4110120"/>
            <a:ext cx="91422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c1d4b"/>
              </a:buClr>
              <a:buFont typeface="Wingdings" charset="2"/>
              <a:buChar char=""/>
            </a:pPr>
            <a:r>
              <a:rPr b="1" lang="en-US" sz="28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Drawback of Existing System</a:t>
            </a:r>
            <a:r>
              <a:rPr b="1" lang="en-US" sz="2800" strike="noStrike" u="none">
                <a:solidFill>
                  <a:srgbClr val="002060"/>
                </a:solidFill>
                <a:effectLst/>
                <a:uFillTx/>
                <a:latin typeface="Montserrat Heavy"/>
              </a:rPr>
              <a:t> :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4500000" y="4851000"/>
            <a:ext cx="9142200" cy="25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Manual record keeping prone to errors.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Lack of centralized user authentication.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Difficulty in managing event data securely.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Limited scalability and adaptability to different use cases.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1"/>
          <p:cNvSpPr/>
          <p:nvPr/>
        </p:nvSpPr>
        <p:spPr>
          <a:xfrm>
            <a:off x="1871280" y="3297600"/>
            <a:ext cx="73054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b="0" lang="en-US" sz="2100" strike="noStrike" u="none">
                <a:solidFill>
                  <a:srgbClr val="696d76"/>
                </a:solidFill>
                <a:effectLst/>
                <a:uFillTx/>
                <a:latin typeface="DM Sans"/>
                <a:ea typeface="DM Sans"/>
              </a:rPr>
              <a:t>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3553200" y="1037160"/>
            <a:ext cx="11375640" cy="15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proposed EventSync system overcomes these limitations by offering a secure, scalable, and centralized platform for event management.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3567960" y="2752920"/>
            <a:ext cx="12846960" cy="15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modern web technologies, the system ensures smooth interaction between users and administrators, while maintaining data security with password encryption and database integration.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7019640" y="4550400"/>
            <a:ext cx="42465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4400" strike="noStrike" u="none">
                <a:solidFill>
                  <a:srgbClr val="002060"/>
                </a:solidFill>
                <a:effectLst/>
                <a:uFillTx/>
                <a:latin typeface="Montserrat Heavy"/>
              </a:rPr>
              <a:t> </a:t>
            </a: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Features</a:t>
            </a:r>
            <a:r>
              <a:rPr b="1" lang="en-US" sz="4400" strike="noStrike" u="none">
                <a:solidFill>
                  <a:srgbClr val="002060"/>
                </a:solidFill>
                <a:effectLst/>
                <a:uFillTx/>
                <a:latin typeface="Montserrat Heavy"/>
              </a:rPr>
              <a:t> :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4670640" y="5330880"/>
            <a:ext cx="91422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User registration and authentication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Venue Booking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Centralized booking management and scheduling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Database-driven design with MySql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Role-Based Access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2060"/>
              </a:buClr>
              <a:buFont typeface="Wingdings" charset="2"/>
              <a:buChar char="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Responsive and accessible web interface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  <a:ea typeface="Times New Roman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6551640" y="0"/>
            <a:ext cx="57589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Proposed System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01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"/>
          <p:cNvSpPr/>
          <p:nvPr/>
        </p:nvSpPr>
        <p:spPr>
          <a:xfrm>
            <a:off x="10165680" y="2046240"/>
            <a:ext cx="66823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b="0" lang="en-US" sz="2100" strike="noStrike" u="none">
                <a:solidFill>
                  <a:srgbClr val="696d76"/>
                </a:solidFill>
                <a:effectLst/>
                <a:uFillTx/>
                <a:latin typeface="DM Sans"/>
                <a:ea typeface="DM Sans"/>
              </a:rPr>
              <a:t>.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10165680" y="4615200"/>
            <a:ext cx="66823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b="0" lang="en-US" sz="2100" strike="noStrike" u="none">
                <a:solidFill>
                  <a:srgbClr val="696d76"/>
                </a:solidFill>
                <a:effectLst/>
                <a:uFillTx/>
                <a:latin typeface="DM Sans"/>
                <a:ea typeface="DM Sans"/>
              </a:rPr>
              <a:t>.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6803640" y="0"/>
            <a:ext cx="467856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6565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System Users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4103280" y="1541160"/>
            <a:ext cx="9142200" cy="25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system is primarily designed for two categories of users :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Administrators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Regular Users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993000" y="3888000"/>
            <a:ext cx="429984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6565"/>
              </a:lnSpc>
            </a:pPr>
            <a:r>
              <a:rPr b="1" lang="en-US" sz="40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Role of Users :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4103280" y="5003280"/>
            <a:ext cx="9142200" cy="10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Administrators -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Manages users, monitors activities, and oversees the overall event process.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4103280" y="6107040"/>
            <a:ext cx="9142200" cy="10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Registered Users -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 log in, view, and manage personal event activities.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4114080" y="7264440"/>
            <a:ext cx="9142200" cy="10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13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8"/>
          <p:cNvSpPr/>
          <p:nvPr/>
        </p:nvSpPr>
        <p:spPr>
          <a:xfrm>
            <a:off x="5039640" y="102960"/>
            <a:ext cx="7704000" cy="8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68"/>
              </a:lnSpc>
            </a:pPr>
            <a:r>
              <a:rPr b="1" lang="en-US" sz="69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 </a:t>
            </a: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  <a:ea typeface="Montserrat Heavy"/>
              </a:rPr>
              <a:t>Modules &amp; Sub Modules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6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5039640" y="1931760"/>
            <a:ext cx="11158560" cy="64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IN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1.  User Module: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registration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Login/logout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Book Venues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Make Payment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Session management.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2. Database Module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Create and update bookings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 scheduling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 tracking.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3. Admin Module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Management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  <a:p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Venue Management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grpSp>
        <p:nvGrpSpPr>
          <p:cNvPr id="118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19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6"/>
          <p:cNvSpPr/>
          <p:nvPr/>
        </p:nvSpPr>
        <p:spPr>
          <a:xfrm>
            <a:off x="6983640" y="49320"/>
            <a:ext cx="56149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System Design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7920000" y="790200"/>
            <a:ext cx="295056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(Wireframe)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5400000" y="1322280"/>
            <a:ext cx="7500240" cy="875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3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6911640" y="102960"/>
            <a:ext cx="55429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Data Dictionary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27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aphicFrame>
        <p:nvGraphicFramePr>
          <p:cNvPr id="129" name="Table 3"/>
          <p:cNvGraphicFramePr/>
          <p:nvPr/>
        </p:nvGraphicFramePr>
        <p:xfrm>
          <a:off x="2109960" y="814320"/>
          <a:ext cx="14278320" cy="7878960"/>
        </p:xfrm>
        <a:graphic>
          <a:graphicData uri="http://schemas.openxmlformats.org/drawingml/2006/table">
            <a:tbl>
              <a:tblPr/>
              <a:tblGrid>
                <a:gridCol w="2855880"/>
                <a:gridCol w="2855880"/>
                <a:gridCol w="2855880"/>
                <a:gridCol w="2855880"/>
                <a:gridCol w="2855160"/>
              </a:tblGrid>
              <a:tr h="716400">
                <a:tc gridSpan="5"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Users</a:t>
                      </a:r>
                      <a:endParaRPr b="1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90000" rIns="90000" tIns="45000" bIns="45000" anchor="ctr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ctr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ctr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ctr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User_id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PRIMARY_KEY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identifier for each user.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Userame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VARCHAR(100)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Userame of the user.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Email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VARCHAR(255)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email address.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Password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VARCHAR(255)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Encrypted User Password.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Full_Name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VARCHAR(200)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Name of the user.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Phone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Contact Number of the user.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Address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VARCHAR(300)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Address of the user.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Role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ENUM(‘user’ ,‘admin’)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DEFAULT(‘user’)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Defines User Role(User,Admin).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640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Created_At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DEFAULT(CURRENT_TIMESTAMP)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Record Creation Timestamp.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14960"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Updated_At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DEFAULT(CURRENT_TIMESTAMP)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Record update Timestamp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0" marR="0" marT="0" marB="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32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aphicFrame>
        <p:nvGraphicFramePr>
          <p:cNvPr id="134" name=""/>
          <p:cNvGraphicFramePr/>
          <p:nvPr/>
        </p:nvGraphicFramePr>
        <p:xfrm>
          <a:off x="1900440" y="1968120"/>
          <a:ext cx="14218920" cy="3841200"/>
        </p:xfrm>
        <a:graphic>
          <a:graphicData uri="http://schemas.openxmlformats.org/drawingml/2006/table">
            <a:tbl>
              <a:tblPr/>
              <a:tblGrid>
                <a:gridCol w="2843640"/>
                <a:gridCol w="2843640"/>
                <a:gridCol w="2843640"/>
                <a:gridCol w="2843640"/>
                <a:gridCol w="2844720"/>
              </a:tblGrid>
              <a:tr h="600480">
                <a:tc gridSpan="5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ContactMessages</a:t>
                      </a:r>
                      <a:endParaRPr b="1" lang="en-US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</a:tr>
              <a:tr h="6004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Contactmessage_id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PRIMARY_KEY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identifier for 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each contact message.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6004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User(User_id)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 of the user who contacted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04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 of the person 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sending the message.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6004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Message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TEXT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The actual message content.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40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 when the 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message was created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(Default = Current time)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Group 4"/>
          <p:cNvGrpSpPr/>
          <p:nvPr/>
        </p:nvGrpSpPr>
        <p:grpSpPr>
          <a:xfrm>
            <a:off x="0" y="8965800"/>
            <a:ext cx="18286200" cy="1319760"/>
            <a:chOff x="0" y="8965800"/>
            <a:chExt cx="18286200" cy="1319760"/>
          </a:xfrm>
        </p:grpSpPr>
        <p:sp>
          <p:nvSpPr>
            <p:cNvPr id="137" name="Freeform 5"/>
            <p:cNvSpPr/>
            <p:nvPr/>
          </p:nvSpPr>
          <p:spPr>
            <a:xfrm>
              <a:off x="0" y="902988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Box 6"/>
            <p:cNvSpPr/>
            <p:nvPr/>
          </p:nvSpPr>
          <p:spPr>
            <a:xfrm>
              <a:off x="0" y="896580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aphicFrame>
        <p:nvGraphicFramePr>
          <p:cNvPr id="139" name=""/>
          <p:cNvGraphicFramePr/>
          <p:nvPr/>
        </p:nvGraphicFramePr>
        <p:xfrm>
          <a:off x="679320" y="228960"/>
          <a:ext cx="16379280" cy="8972640"/>
        </p:xfrm>
        <a:graphic>
          <a:graphicData uri="http://schemas.openxmlformats.org/drawingml/2006/table">
            <a:tbl>
              <a:tblPr/>
              <a:tblGrid>
                <a:gridCol w="3276000"/>
                <a:gridCol w="3276000"/>
                <a:gridCol w="3276000"/>
                <a:gridCol w="3276000"/>
                <a:gridCol w="3275640"/>
              </a:tblGrid>
              <a:tr h="693000">
                <a:tc gridSpan="5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Bookings</a:t>
                      </a:r>
                      <a:endParaRPr b="1" lang="en-US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Booking_id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PRIMARY_KEY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ID for each booking.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User(User_id)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 of the user who made the booking (foreign key).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Venue_id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Venue(Venue_id)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 of the venue being booked (foreign key).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Event_type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ENUM('Wedding', 'Birthday')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 of event (Wedding/Birthday).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Event_Date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Date of the event.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Event_Time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 of the event.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Guest_Count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Number of guests expected.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Booking_Status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ENUM('Pending', 'Confirmed', 'Cancelled',)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('Pending')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Current status of booking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Special_Requests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TEXT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Additional requests from the user.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Total_Amount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DECIMAL(10, 2)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cost of the booking.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5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 when the booking record was created.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7124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Updated_at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 when the record was last updated.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Group 4"/>
          <p:cNvGrpSpPr/>
          <p:nvPr/>
        </p:nvGrpSpPr>
        <p:grpSpPr>
          <a:xfrm>
            <a:off x="5760" y="9027720"/>
            <a:ext cx="18286200" cy="1319400"/>
            <a:chOff x="5760" y="9027720"/>
            <a:chExt cx="18286200" cy="1319400"/>
          </a:xfrm>
        </p:grpSpPr>
        <p:sp>
          <p:nvSpPr>
            <p:cNvPr id="142" name="Freeform 5"/>
            <p:cNvSpPr/>
            <p:nvPr/>
          </p:nvSpPr>
          <p:spPr>
            <a:xfrm>
              <a:off x="5760" y="909144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Box 6"/>
            <p:cNvSpPr/>
            <p:nvPr/>
          </p:nvSpPr>
          <p:spPr>
            <a:xfrm>
              <a:off x="5760" y="902772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aphicFrame>
        <p:nvGraphicFramePr>
          <p:cNvPr id="144" name=""/>
          <p:cNvGraphicFramePr/>
          <p:nvPr/>
        </p:nvGraphicFramePr>
        <p:xfrm>
          <a:off x="1634040" y="192960"/>
          <a:ext cx="14759640" cy="8610840"/>
        </p:xfrm>
        <a:graphic>
          <a:graphicData uri="http://schemas.openxmlformats.org/drawingml/2006/table">
            <a:tbl>
              <a:tblPr/>
              <a:tblGrid>
                <a:gridCol w="2967480"/>
                <a:gridCol w="2454480"/>
                <a:gridCol w="1708200"/>
                <a:gridCol w="3361680"/>
                <a:gridCol w="4268160"/>
              </a:tblGrid>
              <a:tr h="587520">
                <a:tc gridSpan="5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Venues</a:t>
                      </a:r>
                      <a:endParaRPr b="1" lang="en-US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Venue_id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PRIMARY_KEY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ID for each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Venue_name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 of the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Owner_id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User(User_id)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 of the user who owns the venue (foreign key).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Location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VARCHAR(300)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address/location of the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City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City where the venue is located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 where the venue is located.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Zip_Code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Postal/ZIP code of the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TEXT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Detailed information about the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Capacity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Maximum number of guests the venue can hold.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Price_per_event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DECIMAL(10, 2)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Cost to book the venue for an event.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Image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LONGBLOB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URLs of venue image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Contact_Name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 of the contact person for the venue.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Contact_Phone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Phone number of the contact person.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Contact_Email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VARCHAR(200)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Email of the contact person.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Available_Dates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TEXT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Dates when the venue is available.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Booking_Advance_Days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DEFAULT(30 Days)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Days before the event that booking must be made (default 30 Days).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ENUM('active', 'inactive', 'maintenance')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('active’)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Current venue status (active/inactive/maintenance).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430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 when the booking record was created.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233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Updated_at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 when the record was last updated.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3"/>
          <p:cNvSpPr/>
          <p:nvPr/>
        </p:nvSpPr>
        <p:spPr>
          <a:xfrm>
            <a:off x="12601440" y="9525240"/>
            <a:ext cx="46558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</a:pPr>
            <a:r>
              <a:rPr b="1" lang="en-US" sz="2300" spc="54" strike="noStrike" u="none">
                <a:solidFill>
                  <a:srgbClr val="ffffff"/>
                </a:solidFill>
                <a:effectLst/>
                <a:uFillTx/>
                <a:latin typeface="DM Sans Bold"/>
                <a:ea typeface="DM Sans Bold"/>
              </a:rPr>
              <a:t>MAJOR: INTERIOR DESIGN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roup 4"/>
          <p:cNvGrpSpPr/>
          <p:nvPr/>
        </p:nvGrpSpPr>
        <p:grpSpPr>
          <a:xfrm>
            <a:off x="5760" y="9027720"/>
            <a:ext cx="18286200" cy="1319400"/>
            <a:chOff x="5760" y="9027720"/>
            <a:chExt cx="18286200" cy="1319400"/>
          </a:xfrm>
        </p:grpSpPr>
        <p:sp>
          <p:nvSpPr>
            <p:cNvPr id="147" name="Freeform 5"/>
            <p:cNvSpPr/>
            <p:nvPr/>
          </p:nvSpPr>
          <p:spPr>
            <a:xfrm>
              <a:off x="5760" y="9091440"/>
              <a:ext cx="18286200" cy="125568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255680"/>
                <a:gd name="textAreaBottom" fmla="*/ 1257480 h 125568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Box 6"/>
            <p:cNvSpPr/>
            <p:nvPr/>
          </p:nvSpPr>
          <p:spPr>
            <a:xfrm>
              <a:off x="5760" y="9027720"/>
              <a:ext cx="18286200" cy="131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aphicFrame>
        <p:nvGraphicFramePr>
          <p:cNvPr id="149" name=""/>
          <p:cNvGraphicFramePr/>
          <p:nvPr/>
        </p:nvGraphicFramePr>
        <p:xfrm>
          <a:off x="2176200" y="412200"/>
          <a:ext cx="14398920" cy="8407800"/>
        </p:xfrm>
        <a:graphic>
          <a:graphicData uri="http://schemas.openxmlformats.org/drawingml/2006/table">
            <a:tbl>
              <a:tblPr/>
              <a:tblGrid>
                <a:gridCol w="2879640"/>
                <a:gridCol w="2879640"/>
                <a:gridCol w="2879640"/>
                <a:gridCol w="2879640"/>
                <a:gridCol w="2880720"/>
              </a:tblGrid>
              <a:tr h="888120">
                <a:tc gridSpan="5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Payments</a:t>
                      </a:r>
                      <a:endParaRPr b="1" lang="en-US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  <a:tc hMerge="1"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IN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d597b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Payment_id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PRIMARY_KEY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ID for each payment.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Booking_id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 KEY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Booking(booking_id)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Links payment to a booking (foreign key).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Payment_method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ENUM('Credit_card', 'Debit_card', 'Net_banking', 'UPI')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('Credit_card')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 of payment used (Credit card, UPI, etc.).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Payment_status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ENUM('Pending', 'Completed', 'Failed', 'Refunded')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('Pending')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Current state of payment (Pending, Completed, etc.).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Amount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DECIMAL(10, 2)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NOT_NULL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payment amount.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Transaction_id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VARCHAR(100)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Unique transaction reference number.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Paid_at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 when payment was made.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f3"/>
                    </a:solidFill>
                  </a:tcPr>
                </a:tc>
              </a:tr>
              <a:tr h="8359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Record creation timestamp.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32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Updated_at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TIMESTAMP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DEFAULT (CURRENT_TIMESTAMP)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IN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Record update timestamp.</a:t>
                      </a:r>
                      <a:endParaRPr b="0" lang="en-IN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4"/>
          <p:cNvSpPr/>
          <p:nvPr/>
        </p:nvSpPr>
        <p:spPr>
          <a:xfrm>
            <a:off x="6623640" y="102960"/>
            <a:ext cx="50389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UML Diagrams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33120" y="1038960"/>
            <a:ext cx="4826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c1d4b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Use Case :</a:t>
            </a:r>
            <a:br>
              <a:rPr sz="3200"/>
            </a:br>
            <a:r>
              <a:rPr b="1" lang="en-US" sz="32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1) User Use case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4320360" y="842040"/>
            <a:ext cx="7739640" cy="905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33120" y="180000"/>
            <a:ext cx="5006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c1d4b"/>
              </a:buClr>
              <a:buFont typeface="Wingdings" charset="2"/>
              <a:buChar char=""/>
            </a:pPr>
            <a:r>
              <a:rPr b="1" lang="en-US" sz="32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2) Admin Use case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3538440" y="773640"/>
            <a:ext cx="9241560" cy="889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3960000" y="155520"/>
            <a:ext cx="9900000" cy="9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2"/>
          <p:cNvSpPr/>
          <p:nvPr/>
        </p:nvSpPr>
        <p:spPr>
          <a:xfrm>
            <a:off x="180000" y="102960"/>
            <a:ext cx="12059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c1d4b"/>
              </a:buClr>
              <a:buFont typeface="Wingdings" charset="2"/>
              <a:buChar char=""/>
            </a:pPr>
            <a:r>
              <a:rPr b="1" lang="en-US" sz="4400" strike="noStrike" u="none">
                <a:solidFill>
                  <a:srgbClr val="0c1d4b"/>
                </a:solidFill>
                <a:effectLst/>
                <a:uFillTx/>
                <a:latin typeface="Montserrat Heavy"/>
              </a:rPr>
              <a:t>Class Diagram :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9"/>
          <p:cNvSpPr/>
          <p:nvPr/>
        </p:nvSpPr>
        <p:spPr>
          <a:xfrm>
            <a:off x="3334320" y="3653640"/>
            <a:ext cx="11617560" cy="160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2121"/>
              </a:lnSpc>
            </a:pPr>
            <a:r>
              <a:rPr b="1" lang="en-US" sz="12000" strike="noStrike" u="none">
                <a:solidFill>
                  <a:srgbClr val="002060"/>
                </a:solidFill>
                <a:effectLst/>
                <a:uFillTx/>
                <a:latin typeface="Montserrat Heavy"/>
                <a:ea typeface="Montserrat Heavy"/>
              </a:rPr>
              <a:t>THANK YOU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Group 12"/>
          <p:cNvGrpSpPr/>
          <p:nvPr/>
        </p:nvGrpSpPr>
        <p:grpSpPr>
          <a:xfrm>
            <a:off x="14760" y="9431640"/>
            <a:ext cx="18271440" cy="853560"/>
            <a:chOff x="14760" y="9431640"/>
            <a:chExt cx="18271440" cy="853560"/>
          </a:xfrm>
        </p:grpSpPr>
        <p:sp>
          <p:nvSpPr>
            <p:cNvPr id="159" name="Freeform 13"/>
            <p:cNvSpPr/>
            <p:nvPr/>
          </p:nvSpPr>
          <p:spPr>
            <a:xfrm>
              <a:off x="14760" y="9473040"/>
              <a:ext cx="18271440" cy="812160"/>
            </a:xfrm>
            <a:custGeom>
              <a:avLst/>
              <a:gdLst>
                <a:gd name="textAreaLeft" fmla="*/ 0 w 18271440"/>
                <a:gd name="textAreaRight" fmla="*/ 18273240 w 18271440"/>
                <a:gd name="textAreaTop" fmla="*/ 0 h 812160"/>
                <a:gd name="textAreaBottom" fmla="*/ 813960 h 812160"/>
              </a:gdLst>
              <a:ahLst/>
              <a:cxnLst/>
              <a:rect l="textAreaLeft" t="textAreaTop" r="textAreaRight" b="textAreaBottom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14"/>
            <p:cNvSpPr/>
            <p:nvPr/>
          </p:nvSpPr>
          <p:spPr>
            <a:xfrm>
              <a:off x="14760" y="9431640"/>
              <a:ext cx="18271440" cy="85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94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592</TotalTime>
  <Application>LibreOffice/25.8.1.1$Windows_X86_64 LibreOffice_project/54047653041915e595ad4e45cccea684809c77b5</Application>
  <AppVersion>15.0000</AppVersion>
  <Words>1444</Words>
  <Paragraphs>340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2025-09-05T06:27:31Z</dcterms:created>
  <dc:creator>Parth</dc:creator>
  <dc:description/>
  <dc:identifier>DAGvHLX0dSE</dc:identifier>
  <dc:language>en-IN</dc:language>
  <cp:lastModifiedBy/>
  <dcterms:modified xsi:type="dcterms:W3CDTF">2025-11-27T03:00:48Z</dcterms:modified>
  <cp:revision>50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18</vt:i4>
  </property>
</Properties>
</file>